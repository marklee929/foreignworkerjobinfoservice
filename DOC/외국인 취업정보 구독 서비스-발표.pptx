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66" r:id="rId5"/>
    <p:sldId id="259" r:id="rId6"/>
    <p:sldId id="260" r:id="rId7"/>
    <p:sldId id="267" r:id="rId8"/>
    <p:sldId id="261" r:id="rId9"/>
    <p:sldId id="262" r:id="rId10"/>
    <p:sldId id="263" r:id="rId11"/>
    <p:sldId id="268" r:id="rId12"/>
    <p:sldId id="264" r:id="rId13"/>
    <p:sldId id="265" r:id="rId14"/>
  </p:sldIdLst>
  <p:sldSz cx="9144000" cy="5148263"/>
  <p:notesSz cx="5148263"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99" d="100"/>
          <a:sy n="199" d="100"/>
        </p:scale>
        <p:origin x="684"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비율</c:v>
                </c:pt>
              </c:strCache>
            </c:strRef>
          </c:tx>
          <c:spPr>
            <a:solidFill>
              <a:srgbClr val="007C91"/>
            </a:solidFill>
            <a:effectLst/>
          </c:spPr>
          <c:invertIfNegative val="0"/>
          <c:cat>
            <c:strRef>
              <c:f>Sheet1!$A$2:$A$5</c:f>
              <c:strCache>
                <c:ptCount val="4"/>
                <c:pt idx="0">
                  <c:v>고용률</c:v>
                </c:pt>
                <c:pt idx="1">
                  <c:v>유지·확대 의지</c:v>
                </c:pt>
                <c:pt idx="2">
                  <c:v>수요 증가 전망</c:v>
                </c:pt>
                <c:pt idx="3">
                  <c:v>유학생 취업 희망</c:v>
                </c:pt>
              </c:strCache>
            </c:strRef>
          </c:cat>
          <c:val>
            <c:numRef>
              <c:f>Sheet1!$B$2:$B$5</c:f>
              <c:numCache>
                <c:formatCode>General</c:formatCode>
                <c:ptCount val="4"/>
                <c:pt idx="0">
                  <c:v>93.8</c:v>
                </c:pt>
                <c:pt idx="1">
                  <c:v>98.2</c:v>
                </c:pt>
                <c:pt idx="2">
                  <c:v>55.5</c:v>
                </c:pt>
                <c:pt idx="3">
                  <c:v>71</c:v>
                </c:pt>
              </c:numCache>
            </c:numRef>
          </c:val>
          <c:extLst>
            <c:ext xmlns:c16="http://schemas.microsoft.com/office/drawing/2014/chart" uri="{C3380CC4-5D6E-409C-BE32-E72D297353CC}">
              <c16:uniqueId val="{00000000-8FA0-4F53-9E7F-71C985A5B6D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14213D"/>
            </a:solidFill>
            <a:prstDash val="solid"/>
            <a:round/>
          </a:ln>
        </c:spPr>
        <c:txPr>
          <a:bodyPr/>
          <a:lstStyle/>
          <a:p>
            <a:pPr>
              <a:defRPr sz="900" b="0" i="0" u="none" strike="noStrike">
                <a:solidFill>
                  <a:srgbClr val="14213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14213D"/>
            </a:solidFill>
            <a:prstDash val="solid"/>
            <a:round/>
          </a:ln>
        </c:spPr>
        <c:txPr>
          <a:bodyPr/>
          <a:lstStyle/>
          <a:p>
            <a:pPr>
              <a:defRPr sz="900" b="0" i="0" u="none" strike="noStrike">
                <a:solidFill>
                  <a:srgbClr val="14213D"/>
                </a:solidFill>
                <a:latin typeface="Arial"/>
              </a:defRPr>
            </a:pPr>
            <a:endParaRPr lang="en-US"/>
          </a:p>
        </c:txPr>
        <c:crossAx val="2094734554"/>
        <c:crosses val="autoZero"/>
        <c:crossBetween val="between"/>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006420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EF666-1B56-3614-A2EF-3DB2A6EF6B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4E79FC-308E-3388-9CDC-1CDD84C6EAAF}"/>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F31ED646-A016-B6F2-399E-2CBBE0CFD3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2D2758-FA41-2349-FB41-1ED302F96E98}"/>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127463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62B6B-178A-96E0-F211-B8DDF0AE24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3A165-E872-4F25-382B-018C839C4026}"/>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4B1610C4-2FDA-7AD8-1D44-6E93175EFF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37E7BC-8CBB-7755-4811-7CA6817BBBC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227761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87A7E-0162-7CA1-8D56-0A4BC6B1B6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5232A4-C1FE-1464-20BE-6947D61AB794}"/>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2CFDB5A9-45D0-17F4-8C2D-61ADA890A6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9CA8B3-0710-BD0E-8C6A-59C7817BF7A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7298795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8072"/>
          </a:xfrm>
          <a:prstGeom prst="rect">
            <a:avLst/>
          </a:prstGeom>
        </p:spPr>
      </p:pic>
      <p:sp>
        <p:nvSpPr>
          <p:cNvPr id="3" name="Shape 0"/>
          <p:cNvSpPr/>
          <p:nvPr/>
        </p:nvSpPr>
        <p:spPr>
          <a:xfrm>
            <a:off x="0" y="0"/>
            <a:ext cx="9144000" cy="5148072"/>
          </a:xfrm>
          <a:prstGeom prst="rect">
            <a:avLst/>
          </a:prstGeom>
          <a:solidFill>
            <a:srgbClr val="14213D">
              <a:alpha val="60000"/>
            </a:srgbClr>
          </a:solidFill>
          <a:ln w="12700">
            <a:solidFill>
              <a:srgbClr val="14213D"/>
            </a:solidFill>
            <a:prstDash val="solid"/>
          </a:ln>
        </p:spPr>
        <p:txBody>
          <a:bodyPr/>
          <a:lstStyle/>
          <a:p>
            <a:endParaRPr/>
          </a:p>
        </p:txBody>
      </p:sp>
      <p:sp>
        <p:nvSpPr>
          <p:cNvPr id="4" name="Text 1"/>
          <p:cNvSpPr/>
          <p:nvPr/>
        </p:nvSpPr>
        <p:spPr>
          <a:xfrm>
            <a:off x="457200" y="1645920"/>
            <a:ext cx="8229600" cy="1828800"/>
          </a:xfrm>
          <a:prstGeom prst="rect">
            <a:avLst/>
          </a:prstGeom>
          <a:noFill/>
          <a:ln/>
        </p:spPr>
        <p:txBody>
          <a:bodyPr wrap="square" rtlCol="0" anchor="ctr"/>
          <a:lstStyle/>
          <a:p>
            <a:pPr marL="0" indent="0" algn="ctr">
              <a:buNone/>
            </a:pPr>
            <a:r>
              <a:rPr lang="en-US" sz="3200" b="1" dirty="0">
                <a:solidFill>
                  <a:srgbClr val="FCA311"/>
                </a:solidFill>
              </a:rPr>
              <a:t>외국인 취업 정보 구독형 서비스 플랫폼</a:t>
            </a:r>
            <a:endParaRPr lang="en-US" sz="3200" dirty="0"/>
          </a:p>
          <a:p>
            <a:pPr marL="0" indent="0" algn="ctr">
              <a:buNone/>
            </a:pPr>
            <a:r>
              <a:rPr lang="en-US" sz="1800" i="1" dirty="0">
                <a:solidFill>
                  <a:srgbClr val="F5F5F5"/>
                </a:solidFill>
              </a:rPr>
              <a:t>국경과 언어를 넘어선 채용 혁신</a:t>
            </a:r>
            <a:endParaRPr lang="en-US" sz="3200" dirty="0"/>
          </a:p>
        </p:txBody>
      </p:sp>
      <p:sp>
        <p:nvSpPr>
          <p:cNvPr id="5" name="Text 2"/>
          <p:cNvSpPr/>
          <p:nvPr/>
        </p:nvSpPr>
        <p:spPr>
          <a:xfrm>
            <a:off x="457200" y="4206240"/>
            <a:ext cx="8229600" cy="548640"/>
          </a:xfrm>
          <a:prstGeom prst="rect">
            <a:avLst/>
          </a:prstGeom>
          <a:noFill/>
          <a:ln/>
        </p:spPr>
        <p:txBody>
          <a:bodyPr wrap="square" rtlCol="0" anchor="ctr"/>
          <a:lstStyle/>
          <a:p>
            <a:pPr marL="0" indent="0" algn="ctr">
              <a:buNone/>
            </a:pPr>
            <a:r>
              <a:rPr lang="en-US" sz="1200" b="1" dirty="0">
                <a:solidFill>
                  <a:srgbClr val="F5F5F5"/>
                </a:solidFill>
              </a:rPr>
              <a:t>연구발표</a:t>
            </a:r>
            <a:endParaRPr lang="en-US" sz="1200" dirty="0"/>
          </a:p>
          <a:p>
            <a:pPr marL="0" indent="0" algn="ctr">
              <a:buNone/>
            </a:pPr>
            <a:r>
              <a:rPr lang="en-US" sz="1000" dirty="0">
                <a:solidFill>
                  <a:srgbClr val="E5E5E5"/>
                </a:solidFill>
              </a:rPr>
              <a:t>2025년 11월 1일</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600" b="1" dirty="0">
                <a:solidFill>
                  <a:srgbClr val="14213D"/>
                </a:solidFill>
              </a:rPr>
              <a:t>목차</a:t>
            </a:r>
            <a:endParaRPr lang="en-US" sz="2600" dirty="0"/>
          </a:p>
        </p:txBody>
      </p:sp>
      <p:sp>
        <p:nvSpPr>
          <p:cNvPr id="3" name="Shape 1"/>
          <p:cNvSpPr/>
          <p:nvPr/>
        </p:nvSpPr>
        <p:spPr>
          <a:xfrm>
            <a:off x="457200" y="1097280"/>
            <a:ext cx="4114800" cy="457200"/>
          </a:xfrm>
          <a:prstGeom prst="roundRect">
            <a:avLst>
              <a:gd name="adj" fmla="val 10000"/>
            </a:avLst>
          </a:prstGeom>
          <a:solidFill>
            <a:srgbClr val="E5E5E5"/>
          </a:solidFill>
          <a:ln w="12700">
            <a:solidFill>
              <a:srgbClr val="007C91"/>
            </a:solidFill>
            <a:prstDash val="solid"/>
          </a:ln>
        </p:spPr>
        <p:txBody>
          <a:bodyPr/>
          <a:lstStyle/>
          <a:p>
            <a:endParaRPr/>
          </a:p>
        </p:txBody>
      </p:sp>
      <p:sp>
        <p:nvSpPr>
          <p:cNvPr id="4" name="Text 2"/>
          <p:cNvSpPr/>
          <p:nvPr/>
        </p:nvSpPr>
        <p:spPr>
          <a:xfrm>
            <a:off x="548640" y="1143000"/>
            <a:ext cx="3931920" cy="365760"/>
          </a:xfrm>
          <a:prstGeom prst="rect">
            <a:avLst/>
          </a:prstGeom>
          <a:noFill/>
          <a:ln/>
        </p:spPr>
        <p:txBody>
          <a:bodyPr wrap="square" rtlCol="0" anchor="ctr"/>
          <a:lstStyle/>
          <a:p>
            <a:pPr marL="0" indent="0">
              <a:buNone/>
            </a:pPr>
            <a:r>
              <a:rPr lang="en-US" sz="1200" dirty="0">
                <a:solidFill>
                  <a:srgbClr val="14213D"/>
                </a:solidFill>
              </a:rPr>
              <a:t>연구 배경 및 문제 인식</a:t>
            </a:r>
            <a:endParaRPr lang="en-US" sz="1200" dirty="0"/>
          </a:p>
        </p:txBody>
      </p:sp>
      <p:sp>
        <p:nvSpPr>
          <p:cNvPr id="5" name="Shape 3"/>
          <p:cNvSpPr/>
          <p:nvPr/>
        </p:nvSpPr>
        <p:spPr>
          <a:xfrm>
            <a:off x="4572000" y="1097280"/>
            <a:ext cx="4114800" cy="457200"/>
          </a:xfrm>
          <a:prstGeom prst="roundRect">
            <a:avLst>
              <a:gd name="adj" fmla="val 10000"/>
            </a:avLst>
          </a:prstGeom>
          <a:solidFill>
            <a:srgbClr val="E5E5E5"/>
          </a:solidFill>
          <a:ln w="12700">
            <a:solidFill>
              <a:srgbClr val="007C91"/>
            </a:solidFill>
            <a:prstDash val="solid"/>
          </a:ln>
        </p:spPr>
        <p:txBody>
          <a:bodyPr/>
          <a:lstStyle/>
          <a:p>
            <a:endParaRPr/>
          </a:p>
        </p:txBody>
      </p:sp>
      <p:sp>
        <p:nvSpPr>
          <p:cNvPr id="6" name="Text 4"/>
          <p:cNvSpPr/>
          <p:nvPr/>
        </p:nvSpPr>
        <p:spPr>
          <a:xfrm>
            <a:off x="4663440" y="1143000"/>
            <a:ext cx="3931920" cy="365760"/>
          </a:xfrm>
          <a:prstGeom prst="rect">
            <a:avLst/>
          </a:prstGeom>
          <a:noFill/>
          <a:ln/>
        </p:spPr>
        <p:txBody>
          <a:bodyPr wrap="square" rtlCol="0" anchor="ctr"/>
          <a:lstStyle/>
          <a:p>
            <a:pPr marL="0" indent="0">
              <a:buNone/>
            </a:pPr>
            <a:r>
              <a:rPr lang="en-US" sz="1200" dirty="0">
                <a:solidFill>
                  <a:srgbClr val="14213D"/>
                </a:solidFill>
              </a:rPr>
              <a:t>연구주제 및 목표</a:t>
            </a:r>
            <a:endParaRPr lang="en-US" sz="1200" dirty="0"/>
          </a:p>
        </p:txBody>
      </p:sp>
      <p:sp>
        <p:nvSpPr>
          <p:cNvPr id="7" name="Shape 5"/>
          <p:cNvSpPr/>
          <p:nvPr/>
        </p:nvSpPr>
        <p:spPr>
          <a:xfrm>
            <a:off x="457200" y="1737360"/>
            <a:ext cx="4114800" cy="457200"/>
          </a:xfrm>
          <a:prstGeom prst="roundRect">
            <a:avLst>
              <a:gd name="adj" fmla="val 10000"/>
            </a:avLst>
          </a:prstGeom>
          <a:solidFill>
            <a:srgbClr val="E5E5E5"/>
          </a:solidFill>
          <a:ln w="12700">
            <a:solidFill>
              <a:srgbClr val="007C91"/>
            </a:solidFill>
            <a:prstDash val="solid"/>
          </a:ln>
        </p:spPr>
        <p:txBody>
          <a:bodyPr/>
          <a:lstStyle/>
          <a:p>
            <a:endParaRPr/>
          </a:p>
        </p:txBody>
      </p:sp>
      <p:sp>
        <p:nvSpPr>
          <p:cNvPr id="8" name="Text 6"/>
          <p:cNvSpPr/>
          <p:nvPr/>
        </p:nvSpPr>
        <p:spPr>
          <a:xfrm>
            <a:off x="548640" y="1783080"/>
            <a:ext cx="3931920" cy="365760"/>
          </a:xfrm>
          <a:prstGeom prst="rect">
            <a:avLst/>
          </a:prstGeom>
          <a:noFill/>
          <a:ln/>
        </p:spPr>
        <p:txBody>
          <a:bodyPr wrap="square" rtlCol="0" anchor="ctr"/>
          <a:lstStyle/>
          <a:p>
            <a:pPr marL="0" indent="0">
              <a:buNone/>
            </a:pPr>
            <a:r>
              <a:rPr lang="en-US" sz="1200" dirty="0">
                <a:solidFill>
                  <a:srgbClr val="14213D"/>
                </a:solidFill>
              </a:rPr>
              <a:t>기술적 독창성과 차별성</a:t>
            </a:r>
            <a:endParaRPr lang="en-US" sz="1200" dirty="0"/>
          </a:p>
        </p:txBody>
      </p:sp>
      <p:sp>
        <p:nvSpPr>
          <p:cNvPr id="9" name="Shape 7"/>
          <p:cNvSpPr/>
          <p:nvPr/>
        </p:nvSpPr>
        <p:spPr>
          <a:xfrm>
            <a:off x="4572000" y="1737360"/>
            <a:ext cx="4114800" cy="457200"/>
          </a:xfrm>
          <a:prstGeom prst="roundRect">
            <a:avLst>
              <a:gd name="adj" fmla="val 10000"/>
            </a:avLst>
          </a:prstGeom>
          <a:solidFill>
            <a:srgbClr val="E5E5E5"/>
          </a:solidFill>
          <a:ln w="12700">
            <a:solidFill>
              <a:srgbClr val="007C91"/>
            </a:solidFill>
            <a:prstDash val="solid"/>
          </a:ln>
        </p:spPr>
        <p:txBody>
          <a:bodyPr/>
          <a:lstStyle/>
          <a:p>
            <a:endParaRPr/>
          </a:p>
        </p:txBody>
      </p:sp>
      <p:sp>
        <p:nvSpPr>
          <p:cNvPr id="10" name="Text 8"/>
          <p:cNvSpPr/>
          <p:nvPr/>
        </p:nvSpPr>
        <p:spPr>
          <a:xfrm>
            <a:off x="4663440" y="1783080"/>
            <a:ext cx="3931920" cy="365760"/>
          </a:xfrm>
          <a:prstGeom prst="rect">
            <a:avLst/>
          </a:prstGeom>
          <a:noFill/>
          <a:ln/>
        </p:spPr>
        <p:txBody>
          <a:bodyPr wrap="square" rtlCol="0" anchor="ctr"/>
          <a:lstStyle/>
          <a:p>
            <a:pPr marL="0" indent="0">
              <a:buNone/>
            </a:pPr>
            <a:r>
              <a:rPr lang="en-US" sz="1200" dirty="0">
                <a:solidFill>
                  <a:srgbClr val="14213D"/>
                </a:solidFill>
              </a:rPr>
              <a:t>글로벌·국내 벤치마크</a:t>
            </a:r>
            <a:endParaRPr lang="en-US" sz="1200" dirty="0"/>
          </a:p>
        </p:txBody>
      </p:sp>
      <p:sp>
        <p:nvSpPr>
          <p:cNvPr id="11" name="Shape 9"/>
          <p:cNvSpPr/>
          <p:nvPr/>
        </p:nvSpPr>
        <p:spPr>
          <a:xfrm>
            <a:off x="457200" y="2377440"/>
            <a:ext cx="4114800" cy="457200"/>
          </a:xfrm>
          <a:prstGeom prst="roundRect">
            <a:avLst>
              <a:gd name="adj" fmla="val 10000"/>
            </a:avLst>
          </a:prstGeom>
          <a:solidFill>
            <a:srgbClr val="E5E5E5"/>
          </a:solidFill>
          <a:ln w="12700">
            <a:solidFill>
              <a:srgbClr val="007C91"/>
            </a:solidFill>
            <a:prstDash val="solid"/>
          </a:ln>
        </p:spPr>
        <p:txBody>
          <a:bodyPr/>
          <a:lstStyle/>
          <a:p>
            <a:endParaRPr/>
          </a:p>
        </p:txBody>
      </p:sp>
      <p:sp>
        <p:nvSpPr>
          <p:cNvPr id="12" name="Text 10"/>
          <p:cNvSpPr/>
          <p:nvPr/>
        </p:nvSpPr>
        <p:spPr>
          <a:xfrm>
            <a:off x="548640" y="2423160"/>
            <a:ext cx="3931920" cy="365760"/>
          </a:xfrm>
          <a:prstGeom prst="rect">
            <a:avLst/>
          </a:prstGeom>
          <a:noFill/>
          <a:ln/>
        </p:spPr>
        <p:txBody>
          <a:bodyPr wrap="square" rtlCol="0" anchor="ctr"/>
          <a:lstStyle/>
          <a:p>
            <a:pPr marL="0" indent="0">
              <a:buNone/>
            </a:pPr>
            <a:r>
              <a:rPr lang="en-US" sz="1200" dirty="0">
                <a:solidFill>
                  <a:srgbClr val="14213D"/>
                </a:solidFill>
              </a:rPr>
              <a:t>정량적 성능 지표</a:t>
            </a:r>
            <a:endParaRPr lang="en-US" sz="1200" dirty="0"/>
          </a:p>
        </p:txBody>
      </p:sp>
      <p:sp>
        <p:nvSpPr>
          <p:cNvPr id="13" name="Shape 11"/>
          <p:cNvSpPr/>
          <p:nvPr/>
        </p:nvSpPr>
        <p:spPr>
          <a:xfrm>
            <a:off x="4572000" y="2377440"/>
            <a:ext cx="4114800" cy="457200"/>
          </a:xfrm>
          <a:prstGeom prst="roundRect">
            <a:avLst>
              <a:gd name="adj" fmla="val 10000"/>
            </a:avLst>
          </a:prstGeom>
          <a:solidFill>
            <a:srgbClr val="E5E5E5"/>
          </a:solidFill>
          <a:ln w="12700">
            <a:solidFill>
              <a:srgbClr val="007C91"/>
            </a:solidFill>
            <a:prstDash val="solid"/>
          </a:ln>
        </p:spPr>
        <p:txBody>
          <a:bodyPr/>
          <a:lstStyle/>
          <a:p>
            <a:endParaRPr/>
          </a:p>
        </p:txBody>
      </p:sp>
      <p:sp>
        <p:nvSpPr>
          <p:cNvPr id="14" name="Text 12"/>
          <p:cNvSpPr/>
          <p:nvPr/>
        </p:nvSpPr>
        <p:spPr>
          <a:xfrm>
            <a:off x="4663440" y="2423160"/>
            <a:ext cx="3931920" cy="365760"/>
          </a:xfrm>
          <a:prstGeom prst="rect">
            <a:avLst/>
          </a:prstGeom>
          <a:noFill/>
          <a:ln/>
        </p:spPr>
        <p:txBody>
          <a:bodyPr wrap="square" rtlCol="0" anchor="ctr"/>
          <a:lstStyle/>
          <a:p>
            <a:pPr marL="0" indent="0">
              <a:buNone/>
            </a:pPr>
            <a:r>
              <a:rPr lang="en-US" sz="1200" dirty="0">
                <a:solidFill>
                  <a:srgbClr val="14213D"/>
                </a:solidFill>
              </a:rPr>
              <a:t>방법론 및 구현</a:t>
            </a:r>
            <a:endParaRPr lang="en-US" sz="1200" dirty="0"/>
          </a:p>
        </p:txBody>
      </p:sp>
      <p:sp>
        <p:nvSpPr>
          <p:cNvPr id="15" name="Shape 13"/>
          <p:cNvSpPr/>
          <p:nvPr/>
        </p:nvSpPr>
        <p:spPr>
          <a:xfrm>
            <a:off x="457200" y="3017520"/>
            <a:ext cx="4114800" cy="457200"/>
          </a:xfrm>
          <a:prstGeom prst="roundRect">
            <a:avLst>
              <a:gd name="adj" fmla="val 10000"/>
            </a:avLst>
          </a:prstGeom>
          <a:solidFill>
            <a:srgbClr val="E5E5E5"/>
          </a:solidFill>
          <a:ln w="12700">
            <a:solidFill>
              <a:srgbClr val="007C91"/>
            </a:solidFill>
            <a:prstDash val="solid"/>
          </a:ln>
        </p:spPr>
        <p:txBody>
          <a:bodyPr/>
          <a:lstStyle/>
          <a:p>
            <a:endParaRPr/>
          </a:p>
        </p:txBody>
      </p:sp>
      <p:sp>
        <p:nvSpPr>
          <p:cNvPr id="16" name="Text 14"/>
          <p:cNvSpPr/>
          <p:nvPr/>
        </p:nvSpPr>
        <p:spPr>
          <a:xfrm>
            <a:off x="548640" y="3063240"/>
            <a:ext cx="3931920" cy="365760"/>
          </a:xfrm>
          <a:prstGeom prst="rect">
            <a:avLst/>
          </a:prstGeom>
          <a:noFill/>
          <a:ln/>
        </p:spPr>
        <p:txBody>
          <a:bodyPr wrap="square" rtlCol="0" anchor="ctr"/>
          <a:lstStyle/>
          <a:p>
            <a:pPr marL="0" indent="0">
              <a:buNone/>
            </a:pPr>
            <a:r>
              <a:rPr lang="en-US" sz="1200" dirty="0">
                <a:solidFill>
                  <a:srgbClr val="14213D"/>
                </a:solidFill>
              </a:rPr>
              <a:t>결론 및 다음 단계</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14213D"/>
                </a:solidFill>
              </a:rPr>
              <a:t>연구 배경 및 문제 인식</a:t>
            </a:r>
            <a:endParaRPr lang="en-US" sz="2400" dirty="0"/>
          </a:p>
        </p:txBody>
      </p:sp>
      <p:pic>
        <p:nvPicPr>
          <p:cNvPr id="3" name="Image 0" descr="preencoded.png"/>
          <p:cNvPicPr>
            <a:picLocks noChangeAspect="1"/>
          </p:cNvPicPr>
          <p:nvPr/>
        </p:nvPicPr>
        <p:blipFill>
          <a:blip r:embed="rId3"/>
          <a:stretch>
            <a:fillRect/>
          </a:stretch>
        </p:blipFill>
        <p:spPr>
          <a:xfrm>
            <a:off x="457200" y="1051560"/>
            <a:ext cx="320040" cy="320040"/>
          </a:xfrm>
          <a:prstGeom prst="rect">
            <a:avLst/>
          </a:prstGeom>
        </p:spPr>
      </p:pic>
      <p:sp>
        <p:nvSpPr>
          <p:cNvPr id="4" name="Text 1"/>
          <p:cNvSpPr/>
          <p:nvPr/>
        </p:nvSpPr>
        <p:spPr>
          <a:xfrm>
            <a:off x="868680" y="1005840"/>
            <a:ext cx="4343400" cy="228600"/>
          </a:xfrm>
          <a:prstGeom prst="rect">
            <a:avLst/>
          </a:prstGeom>
          <a:noFill/>
          <a:ln/>
        </p:spPr>
        <p:txBody>
          <a:bodyPr wrap="square" rtlCol="0" anchor="ctr"/>
          <a:lstStyle/>
          <a:p>
            <a:pPr marL="0" indent="0">
              <a:buNone/>
            </a:pPr>
            <a:r>
              <a:rPr lang="en-US" sz="1400" b="1" dirty="0">
                <a:solidFill>
                  <a:srgbClr val="14213D"/>
                </a:solidFill>
              </a:rPr>
              <a:t>국내 중소기업의 인력난</a:t>
            </a:r>
            <a:endParaRPr lang="en-US" sz="1400" dirty="0"/>
          </a:p>
        </p:txBody>
      </p:sp>
      <p:sp>
        <p:nvSpPr>
          <p:cNvPr id="5" name="Text 2"/>
          <p:cNvSpPr/>
          <p:nvPr/>
        </p:nvSpPr>
        <p:spPr>
          <a:xfrm>
            <a:off x="868680" y="1417320"/>
            <a:ext cx="4343400" cy="365760"/>
          </a:xfrm>
          <a:prstGeom prst="rect">
            <a:avLst/>
          </a:prstGeom>
          <a:noFill/>
          <a:ln/>
        </p:spPr>
        <p:txBody>
          <a:bodyPr wrap="square" rtlCol="0" anchor="ctr"/>
          <a:lstStyle/>
          <a:p>
            <a:r>
              <a:rPr lang="en-US" sz="1000" dirty="0">
                <a:solidFill>
                  <a:srgbClr val="14213D"/>
                </a:solidFill>
              </a:rPr>
              <a:t>93.8%의 중소기업이 외국인 근로자를 고용하고 있으며, 98.2%는 유지·확대를 </a:t>
            </a:r>
            <a:r>
              <a:rPr lang="en-US" sz="1000" dirty="0" err="1">
                <a:solidFill>
                  <a:srgbClr val="14213D"/>
                </a:solidFill>
              </a:rPr>
              <a:t>희망합니다</a:t>
            </a:r>
            <a:r>
              <a:rPr lang="en-US" sz="1000" dirty="0">
                <a:solidFill>
                  <a:srgbClr val="14213D"/>
                </a:solidFill>
              </a:rPr>
              <a:t>. </a:t>
            </a:r>
            <a:r>
              <a:rPr lang="ko-KR" altLang="en-US" sz="1000" dirty="0"/>
              <a:t>한국 산업계는 저출산</a:t>
            </a:r>
            <a:r>
              <a:rPr lang="en-US" altLang="ko-KR" sz="1000" dirty="0"/>
              <a:t>·</a:t>
            </a:r>
            <a:r>
              <a:rPr lang="ko-KR" altLang="en-US" sz="1000" dirty="0"/>
              <a:t>고령화로 인한 인력난을 겪고 있으며</a:t>
            </a:r>
            <a:r>
              <a:rPr lang="en-US" altLang="ko-KR" sz="1000" dirty="0"/>
              <a:t>, </a:t>
            </a:r>
            <a:r>
              <a:rPr lang="ko-KR" altLang="en-US" sz="1000" dirty="0"/>
              <a:t>많은 중소기업이 외국인 근로자에 의존하고 있습니다</a:t>
            </a:r>
            <a:r>
              <a:rPr lang="en-US" altLang="ko-KR" sz="1000" dirty="0"/>
              <a:t>.</a:t>
            </a:r>
          </a:p>
          <a:p>
            <a:pPr marL="0" indent="0">
              <a:buNone/>
            </a:pPr>
            <a:endParaRPr lang="en-US" sz="1000" dirty="0"/>
          </a:p>
        </p:txBody>
      </p:sp>
      <p:pic>
        <p:nvPicPr>
          <p:cNvPr id="6" name="Image 1" descr="preencoded.png"/>
          <p:cNvPicPr>
            <a:picLocks noChangeAspect="1"/>
          </p:cNvPicPr>
          <p:nvPr/>
        </p:nvPicPr>
        <p:blipFill>
          <a:blip r:embed="rId4"/>
          <a:stretch>
            <a:fillRect/>
          </a:stretch>
        </p:blipFill>
        <p:spPr>
          <a:xfrm>
            <a:off x="457200" y="2080260"/>
            <a:ext cx="320040" cy="320040"/>
          </a:xfrm>
          <a:prstGeom prst="rect">
            <a:avLst/>
          </a:prstGeom>
        </p:spPr>
      </p:pic>
      <p:sp>
        <p:nvSpPr>
          <p:cNvPr id="7" name="Text 3"/>
          <p:cNvSpPr/>
          <p:nvPr/>
        </p:nvSpPr>
        <p:spPr>
          <a:xfrm>
            <a:off x="868680" y="2034540"/>
            <a:ext cx="4343400" cy="228600"/>
          </a:xfrm>
          <a:prstGeom prst="rect">
            <a:avLst/>
          </a:prstGeom>
          <a:noFill/>
          <a:ln/>
        </p:spPr>
        <p:txBody>
          <a:bodyPr wrap="square" rtlCol="0" anchor="ctr"/>
          <a:lstStyle/>
          <a:p>
            <a:pPr marL="0" indent="0">
              <a:buNone/>
            </a:pPr>
            <a:r>
              <a:rPr lang="en-US" sz="1400" b="1" dirty="0">
                <a:solidFill>
                  <a:srgbClr val="14213D"/>
                </a:solidFill>
              </a:rPr>
              <a:t>외국인 취업 희망 증가</a:t>
            </a:r>
            <a:endParaRPr lang="en-US" sz="1400" dirty="0"/>
          </a:p>
        </p:txBody>
      </p:sp>
      <p:sp>
        <p:nvSpPr>
          <p:cNvPr id="8" name="Text 4"/>
          <p:cNvSpPr/>
          <p:nvPr/>
        </p:nvSpPr>
        <p:spPr>
          <a:xfrm>
            <a:off x="868680" y="2477065"/>
            <a:ext cx="4343400" cy="365760"/>
          </a:xfrm>
          <a:prstGeom prst="rect">
            <a:avLst/>
          </a:prstGeom>
          <a:noFill/>
          <a:ln/>
        </p:spPr>
        <p:txBody>
          <a:bodyPr wrap="square" rtlCol="0" anchor="ctr"/>
          <a:lstStyle/>
          <a:p>
            <a:r>
              <a:rPr lang="en-US" sz="1000" dirty="0">
                <a:solidFill>
                  <a:srgbClr val="14213D"/>
                </a:solidFill>
              </a:rPr>
              <a:t>글로벌 인재 71%가 한국에서 취업·정착을 희망하며, 1.01M명의 외국인이 이미 근로 </a:t>
            </a:r>
            <a:r>
              <a:rPr lang="en-US" sz="1000" dirty="0" err="1">
                <a:solidFill>
                  <a:srgbClr val="14213D"/>
                </a:solidFill>
              </a:rPr>
              <a:t>중입니다</a:t>
            </a:r>
            <a:r>
              <a:rPr lang="en-US" sz="1000" dirty="0">
                <a:solidFill>
                  <a:srgbClr val="14213D"/>
                </a:solidFill>
              </a:rPr>
              <a:t>. </a:t>
            </a:r>
            <a:r>
              <a:rPr lang="ko-KR" altLang="en-US" sz="1000" dirty="0"/>
              <a:t>기존 취업 알선은 번역과 소통 비용이 높고</a:t>
            </a:r>
            <a:r>
              <a:rPr lang="en-US" altLang="ko-KR" sz="1000" dirty="0"/>
              <a:t>, </a:t>
            </a:r>
            <a:r>
              <a:rPr lang="ko-KR" altLang="en-US" sz="1000" dirty="0"/>
              <a:t>정확한 매칭이 어려워 기업과 구직자 모두 비효율을 겪고 있습니다</a:t>
            </a:r>
            <a:r>
              <a:rPr lang="en-US" altLang="ko-KR" sz="1000" dirty="0"/>
              <a:t>.</a:t>
            </a:r>
          </a:p>
          <a:p>
            <a:pPr marL="0" indent="0">
              <a:buNone/>
            </a:pPr>
            <a:endParaRPr lang="en-US" sz="1000" dirty="0"/>
          </a:p>
        </p:txBody>
      </p:sp>
      <p:pic>
        <p:nvPicPr>
          <p:cNvPr id="9" name="Image 2" descr="preencoded.png"/>
          <p:cNvPicPr>
            <a:picLocks noChangeAspect="1"/>
          </p:cNvPicPr>
          <p:nvPr/>
        </p:nvPicPr>
        <p:blipFill>
          <a:blip r:embed="rId5"/>
          <a:stretch>
            <a:fillRect/>
          </a:stretch>
        </p:blipFill>
        <p:spPr>
          <a:xfrm>
            <a:off x="457200" y="3182303"/>
            <a:ext cx="320040" cy="320040"/>
          </a:xfrm>
          <a:prstGeom prst="rect">
            <a:avLst/>
          </a:prstGeom>
        </p:spPr>
      </p:pic>
      <p:sp>
        <p:nvSpPr>
          <p:cNvPr id="10" name="Text 5"/>
          <p:cNvSpPr/>
          <p:nvPr/>
        </p:nvSpPr>
        <p:spPr>
          <a:xfrm>
            <a:off x="868680" y="3136583"/>
            <a:ext cx="4343400" cy="228600"/>
          </a:xfrm>
          <a:prstGeom prst="rect">
            <a:avLst/>
          </a:prstGeom>
          <a:noFill/>
          <a:ln/>
        </p:spPr>
        <p:txBody>
          <a:bodyPr wrap="square" rtlCol="0" anchor="ctr"/>
          <a:lstStyle/>
          <a:p>
            <a:pPr marL="0" indent="0">
              <a:buNone/>
            </a:pPr>
            <a:r>
              <a:rPr lang="en-US" sz="1400" b="1" dirty="0">
                <a:solidFill>
                  <a:srgbClr val="14213D"/>
                </a:solidFill>
              </a:rPr>
              <a:t>언어·비자 장벽</a:t>
            </a:r>
            <a:endParaRPr lang="en-US" sz="1400" dirty="0"/>
          </a:p>
        </p:txBody>
      </p:sp>
      <p:sp>
        <p:nvSpPr>
          <p:cNvPr id="11" name="Text 6"/>
          <p:cNvSpPr/>
          <p:nvPr/>
        </p:nvSpPr>
        <p:spPr>
          <a:xfrm>
            <a:off x="868680" y="3465719"/>
            <a:ext cx="4343400" cy="365760"/>
          </a:xfrm>
          <a:prstGeom prst="rect">
            <a:avLst/>
          </a:prstGeom>
          <a:noFill/>
          <a:ln/>
        </p:spPr>
        <p:txBody>
          <a:bodyPr wrap="square" rtlCol="0" anchor="ctr"/>
          <a:lstStyle/>
          <a:p>
            <a:r>
              <a:rPr lang="ko-KR" altLang="en-US" sz="1000" dirty="0"/>
              <a:t>외국인 노동자는 언어와 문화 장벽 때문에 일자리 정보에 접근하기 어렵고</a:t>
            </a:r>
            <a:r>
              <a:rPr lang="en-US" altLang="ko-KR" sz="1000" dirty="0"/>
              <a:t>, </a:t>
            </a:r>
            <a:r>
              <a:rPr lang="ko-KR" altLang="en-US" sz="1000" dirty="0"/>
              <a:t>각종 비자 및 취업 규정을 이해하기 힘듭니다</a:t>
            </a:r>
            <a:r>
              <a:rPr lang="en-US" altLang="ko-KR" sz="1000" dirty="0"/>
              <a:t>. </a:t>
            </a:r>
            <a:r>
              <a:rPr lang="en-US" sz="1000" dirty="0" err="1">
                <a:solidFill>
                  <a:srgbClr val="14213D"/>
                </a:solidFill>
              </a:rPr>
              <a:t>수백</a:t>
            </a:r>
            <a:r>
              <a:rPr lang="en-US" sz="1000" dirty="0">
                <a:solidFill>
                  <a:srgbClr val="14213D"/>
                </a:solidFill>
              </a:rPr>
              <a:t> 개 언어에는 고품질 번역도구가 부재해 수많은 인재가 정보 접근에서 배제됩니다.</a:t>
            </a:r>
            <a:endParaRPr lang="en-US" sz="1000" dirty="0"/>
          </a:p>
        </p:txBody>
      </p:sp>
      <p:graphicFrame>
        <p:nvGraphicFramePr>
          <p:cNvPr id="12" name="Chart 0"/>
          <p:cNvGraphicFramePr/>
          <p:nvPr/>
        </p:nvGraphicFramePr>
        <p:xfrm>
          <a:off x="5486400" y="1188720"/>
          <a:ext cx="3108960" cy="2286000"/>
        </p:xfrm>
        <a:graphic>
          <a:graphicData uri="http://schemas.openxmlformats.org/drawingml/2006/chart">
            <c:chart xmlns:c="http://schemas.openxmlformats.org/drawingml/2006/chart" xmlns:r="http://schemas.openxmlformats.org/officeDocument/2006/relationships" r:id="rId6"/>
          </a:graphicData>
        </a:graphic>
      </p:graphicFrame>
      <p:sp>
        <p:nvSpPr>
          <p:cNvPr id="13" name="Text 7"/>
          <p:cNvSpPr/>
          <p:nvPr/>
        </p:nvSpPr>
        <p:spPr>
          <a:xfrm>
            <a:off x="5486400" y="822960"/>
            <a:ext cx="3108960" cy="365760"/>
          </a:xfrm>
          <a:prstGeom prst="rect">
            <a:avLst/>
          </a:prstGeom>
          <a:noFill/>
          <a:ln/>
        </p:spPr>
        <p:txBody>
          <a:bodyPr wrap="square" rtlCol="0" anchor="ctr"/>
          <a:lstStyle/>
          <a:p>
            <a:pPr marL="0" indent="0" algn="ctr">
              <a:buNone/>
            </a:pPr>
            <a:r>
              <a:rPr lang="en-US" sz="1000" b="1" dirty="0">
                <a:solidFill>
                  <a:srgbClr val="14213D"/>
                </a:solidFill>
              </a:rPr>
              <a:t>외국인 고용 및 수요 지표 (%)</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C7D6B-BDE4-F667-0A29-7E4A2F23EAF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3C44D51-6452-5CF4-D48F-6D91A5F2C737}"/>
              </a:ext>
            </a:extLst>
          </p:cNvPr>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14213D"/>
                </a:solidFill>
              </a:rPr>
              <a:t>연구 배경 및 문제 인식</a:t>
            </a:r>
            <a:endParaRPr lang="en-US" sz="2400" dirty="0"/>
          </a:p>
        </p:txBody>
      </p:sp>
      <p:sp>
        <p:nvSpPr>
          <p:cNvPr id="4" name="Text 1">
            <a:extLst>
              <a:ext uri="{FF2B5EF4-FFF2-40B4-BE49-F238E27FC236}">
                <a16:creationId xmlns:a16="http://schemas.microsoft.com/office/drawing/2014/main" id="{181C2993-A045-84E6-1A57-C39EA4DE11D3}"/>
              </a:ext>
            </a:extLst>
          </p:cNvPr>
          <p:cNvSpPr/>
          <p:nvPr/>
        </p:nvSpPr>
        <p:spPr>
          <a:xfrm>
            <a:off x="2400300" y="1326598"/>
            <a:ext cx="4343400" cy="228600"/>
          </a:xfrm>
          <a:prstGeom prst="rect">
            <a:avLst/>
          </a:prstGeom>
          <a:noFill/>
          <a:ln/>
        </p:spPr>
        <p:txBody>
          <a:bodyPr wrap="square" rtlCol="0" anchor="ctr"/>
          <a:lstStyle/>
          <a:p>
            <a:r>
              <a:rPr lang="ko-KR" altLang="en-US" sz="1400" b="1" dirty="0"/>
              <a:t>시장 분석 및 정책 환경</a:t>
            </a:r>
            <a:endParaRPr lang="en-US" sz="1400" b="1" dirty="0"/>
          </a:p>
        </p:txBody>
      </p:sp>
      <p:sp>
        <p:nvSpPr>
          <p:cNvPr id="5" name="Text 2">
            <a:extLst>
              <a:ext uri="{FF2B5EF4-FFF2-40B4-BE49-F238E27FC236}">
                <a16:creationId xmlns:a16="http://schemas.microsoft.com/office/drawing/2014/main" id="{DA246751-C503-6F33-0DAD-817A7AA78ADC}"/>
              </a:ext>
            </a:extLst>
          </p:cNvPr>
          <p:cNvSpPr/>
          <p:nvPr/>
        </p:nvSpPr>
        <p:spPr>
          <a:xfrm>
            <a:off x="2400300" y="2006174"/>
            <a:ext cx="4343400" cy="365760"/>
          </a:xfrm>
          <a:prstGeom prst="rect">
            <a:avLst/>
          </a:prstGeom>
          <a:noFill/>
          <a:ln/>
        </p:spPr>
        <p:txBody>
          <a:bodyPr wrap="square" rtlCol="0" anchor="ctr"/>
          <a:lstStyle/>
          <a:p>
            <a:pPr marL="171450" indent="-171450">
              <a:buFont typeface="Arial" panose="020B0604020202020204" pitchFamily="34" charset="0"/>
              <a:buChar char="•"/>
            </a:pPr>
            <a:endParaRPr lang="ko-KR" altLang="en-US" sz="1000" dirty="0"/>
          </a:p>
          <a:p>
            <a:pPr marL="171450" indent="-171450">
              <a:buFont typeface="Arial" panose="020B0604020202020204" pitchFamily="34" charset="0"/>
              <a:buChar char="•"/>
              <a:defRPr sz="1600"/>
            </a:pPr>
            <a:r>
              <a:rPr lang="ko-KR" altLang="en-US" sz="900" dirty="0"/>
              <a:t>국내 체류 외국인 근로자는 </a:t>
            </a:r>
            <a:r>
              <a:rPr lang="en-US" altLang="ko-KR" sz="900" dirty="0"/>
              <a:t>2024</a:t>
            </a:r>
            <a:r>
              <a:rPr lang="ko-KR" altLang="en-US" sz="900" dirty="0"/>
              <a:t>년 기준 약 </a:t>
            </a:r>
            <a:r>
              <a:rPr lang="en-US" altLang="ko-KR" sz="900" dirty="0"/>
              <a:t>90</a:t>
            </a:r>
            <a:r>
              <a:rPr lang="ko-KR" altLang="en-US" sz="900" dirty="0"/>
              <a:t>만 명으로 매년 증가세이며</a:t>
            </a:r>
            <a:r>
              <a:rPr lang="en-US" altLang="ko-KR" sz="900" dirty="0"/>
              <a:t>, </a:t>
            </a:r>
            <a:r>
              <a:rPr lang="ko-KR" altLang="en-US" sz="900" dirty="0"/>
              <a:t>정부는 고용허가제와 </a:t>
            </a:r>
            <a:r>
              <a:rPr lang="en-US" altLang="ko-KR" sz="900" dirty="0"/>
              <a:t>K-</a:t>
            </a:r>
            <a:r>
              <a:rPr lang="ko-KR" altLang="en-US" sz="900" dirty="0"/>
              <a:t>워크 등 제도를 통해 관리하고 있습니다</a:t>
            </a:r>
            <a:r>
              <a:rPr lang="en-US" altLang="ko-KR" sz="900" dirty="0"/>
              <a:t>.</a:t>
            </a:r>
          </a:p>
          <a:p>
            <a:pPr marL="171450" indent="-171450">
              <a:buFont typeface="Arial" panose="020B0604020202020204" pitchFamily="34" charset="0"/>
              <a:buChar char="•"/>
              <a:defRPr sz="1600"/>
            </a:pPr>
            <a:endParaRPr lang="en-US" altLang="ko-KR" sz="900" dirty="0"/>
          </a:p>
          <a:p>
            <a:pPr marL="171450" indent="-171450">
              <a:buFont typeface="Arial" panose="020B0604020202020204" pitchFamily="34" charset="0"/>
              <a:buChar char="•"/>
              <a:defRPr sz="1600"/>
            </a:pPr>
            <a:r>
              <a:rPr lang="ko-KR" altLang="en-US" sz="900" dirty="0"/>
              <a:t>외국인 인력의 부족과 근로 조건 개선 요구가 사회적 이슈로 떠오르면서 </a:t>
            </a:r>
            <a:r>
              <a:rPr lang="en-US" altLang="ko-KR" sz="900" dirty="0"/>
              <a:t>ESG </a:t>
            </a:r>
            <a:r>
              <a:rPr lang="ko-KR" altLang="en-US" sz="900" dirty="0"/>
              <a:t>경영의 일환으로 다양성과 포용성을 강조하는 기업이 늘어나고 있습니다</a:t>
            </a:r>
            <a:r>
              <a:rPr lang="en-US" altLang="ko-KR" sz="900" dirty="0"/>
              <a:t>.</a:t>
            </a:r>
          </a:p>
          <a:p>
            <a:pPr marL="171450" indent="-171450">
              <a:buFont typeface="Arial" panose="020B0604020202020204" pitchFamily="34" charset="0"/>
              <a:buChar char="•"/>
              <a:defRPr sz="1600"/>
            </a:pPr>
            <a:endParaRPr lang="en-US" altLang="ko-KR" sz="900" dirty="0"/>
          </a:p>
          <a:p>
            <a:pPr marL="171450" indent="-171450">
              <a:buFont typeface="Arial" panose="020B0604020202020204" pitchFamily="34" charset="0"/>
              <a:buChar char="•"/>
              <a:defRPr sz="1600"/>
            </a:pPr>
            <a:r>
              <a:rPr lang="ko-KR" altLang="en-US" sz="900" dirty="0"/>
              <a:t>정부는 디지털 전환과 함께 노동시장 정보 플랫폼 구축을 추진하고 있어</a:t>
            </a:r>
            <a:r>
              <a:rPr lang="en-US" altLang="ko-KR" sz="900" dirty="0"/>
              <a:t>, </a:t>
            </a:r>
            <a:r>
              <a:rPr lang="ko-KR" altLang="en-US" sz="900" dirty="0"/>
              <a:t>민간 혁신 서비스와의 연계가 필요한 시점입니다</a:t>
            </a:r>
            <a:r>
              <a:rPr lang="en-US" altLang="ko-KR" sz="900" dirty="0"/>
              <a:t>.</a:t>
            </a:r>
          </a:p>
        </p:txBody>
      </p:sp>
      <p:pic>
        <p:nvPicPr>
          <p:cNvPr id="15" name="그림 14">
            <a:extLst>
              <a:ext uri="{FF2B5EF4-FFF2-40B4-BE49-F238E27FC236}">
                <a16:creationId xmlns:a16="http://schemas.microsoft.com/office/drawing/2014/main" id="{F23F941D-12EB-11E9-930D-7CE66DBDC3D7}"/>
              </a:ext>
            </a:extLst>
          </p:cNvPr>
          <p:cNvPicPr>
            <a:picLocks noChangeAspect="1"/>
          </p:cNvPicPr>
          <p:nvPr/>
        </p:nvPicPr>
        <p:blipFill>
          <a:blip r:embed="rId3"/>
          <a:stretch>
            <a:fillRect/>
          </a:stretch>
        </p:blipFill>
        <p:spPr>
          <a:xfrm>
            <a:off x="522449" y="1326598"/>
            <a:ext cx="1646618" cy="1385138"/>
          </a:xfrm>
          <a:prstGeom prst="rect">
            <a:avLst/>
          </a:prstGeom>
        </p:spPr>
      </p:pic>
    </p:spTree>
    <p:extLst>
      <p:ext uri="{BB962C8B-B14F-4D97-AF65-F5344CB8AC3E}">
        <p14:creationId xmlns:p14="http://schemas.microsoft.com/office/powerpoint/2010/main" val="1089165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14213D"/>
                </a:solidFill>
              </a:rPr>
              <a:t>연구주제 및 목표</a:t>
            </a:r>
            <a:endParaRPr lang="en-US" sz="2400" dirty="0"/>
          </a:p>
        </p:txBody>
      </p:sp>
      <p:sp>
        <p:nvSpPr>
          <p:cNvPr id="3" name="Shape 1"/>
          <p:cNvSpPr/>
          <p:nvPr/>
        </p:nvSpPr>
        <p:spPr>
          <a:xfrm>
            <a:off x="457200" y="960120"/>
            <a:ext cx="8229600" cy="600584"/>
          </a:xfrm>
          <a:prstGeom prst="roundRect">
            <a:avLst>
              <a:gd name="adj" fmla="val 6250"/>
            </a:avLst>
          </a:prstGeom>
          <a:solidFill>
            <a:srgbClr val="007C91"/>
          </a:solidFill>
          <a:ln w="12700">
            <a:solidFill>
              <a:srgbClr val="007C91"/>
            </a:solidFill>
            <a:prstDash val="solid"/>
          </a:ln>
        </p:spPr>
        <p:txBody>
          <a:bodyPr/>
          <a:lstStyle/>
          <a:p>
            <a:endParaRPr/>
          </a:p>
        </p:txBody>
      </p:sp>
      <p:sp>
        <p:nvSpPr>
          <p:cNvPr id="4" name="Text 2"/>
          <p:cNvSpPr/>
          <p:nvPr/>
        </p:nvSpPr>
        <p:spPr>
          <a:xfrm>
            <a:off x="548640" y="845820"/>
            <a:ext cx="8046720" cy="868680"/>
          </a:xfrm>
          <a:prstGeom prst="rect">
            <a:avLst/>
          </a:prstGeom>
          <a:noFill/>
          <a:ln/>
        </p:spPr>
        <p:txBody>
          <a:bodyPr wrap="square" rtlCol="0" anchor="ctr"/>
          <a:lstStyle/>
          <a:p>
            <a:pPr marL="0" indent="0">
              <a:buNone/>
            </a:pPr>
            <a:r>
              <a:rPr lang="en-US" sz="1600" b="1" dirty="0" err="1">
                <a:solidFill>
                  <a:srgbClr val="F5F5F5"/>
                </a:solidFill>
                <a:latin typeface="+mj-ea"/>
                <a:ea typeface="+mj-ea"/>
              </a:rPr>
              <a:t>연구주제</a:t>
            </a:r>
            <a:r>
              <a:rPr lang="en-US" sz="1600" dirty="0">
                <a:latin typeface="+mj-ea"/>
                <a:ea typeface="+mj-ea"/>
              </a:rPr>
              <a:t> :</a:t>
            </a:r>
            <a:r>
              <a:rPr lang="en-US" sz="1600" b="1" dirty="0" err="1">
                <a:solidFill>
                  <a:srgbClr val="F5F5F5"/>
                </a:solidFill>
                <a:latin typeface="+mj-ea"/>
                <a:ea typeface="+mj-ea"/>
              </a:rPr>
              <a:t>언어·비자</a:t>
            </a:r>
            <a:r>
              <a:rPr lang="en-US" sz="1600" b="1" dirty="0">
                <a:solidFill>
                  <a:srgbClr val="F5F5F5"/>
                </a:solidFill>
                <a:latin typeface="+mj-ea"/>
                <a:ea typeface="+mj-ea"/>
              </a:rPr>
              <a:t> </a:t>
            </a:r>
            <a:r>
              <a:rPr lang="en-US" sz="1600" b="1" dirty="0" err="1">
                <a:solidFill>
                  <a:srgbClr val="F5F5F5"/>
                </a:solidFill>
                <a:latin typeface="+mj-ea"/>
                <a:ea typeface="+mj-ea"/>
              </a:rPr>
              <a:t>장벽을</a:t>
            </a:r>
            <a:r>
              <a:rPr lang="en-US" sz="1600" b="1" dirty="0">
                <a:solidFill>
                  <a:srgbClr val="F5F5F5"/>
                </a:solidFill>
                <a:latin typeface="+mj-ea"/>
                <a:ea typeface="+mj-ea"/>
              </a:rPr>
              <a:t> </a:t>
            </a:r>
            <a:r>
              <a:rPr lang="en-US" sz="1600" b="1" dirty="0" err="1">
                <a:solidFill>
                  <a:srgbClr val="F5F5F5"/>
                </a:solidFill>
                <a:latin typeface="+mj-ea"/>
                <a:ea typeface="+mj-ea"/>
              </a:rPr>
              <a:t>넘는</a:t>
            </a:r>
            <a:r>
              <a:rPr lang="en-US" sz="1600" b="1" dirty="0">
                <a:solidFill>
                  <a:srgbClr val="F5F5F5"/>
                </a:solidFill>
                <a:latin typeface="+mj-ea"/>
                <a:ea typeface="+mj-ea"/>
              </a:rPr>
              <a:t> </a:t>
            </a:r>
            <a:r>
              <a:rPr lang="en-US" sz="1600" b="1" dirty="0" err="1">
                <a:solidFill>
                  <a:srgbClr val="F5F5F5"/>
                </a:solidFill>
                <a:latin typeface="+mj-ea"/>
                <a:ea typeface="+mj-ea"/>
              </a:rPr>
              <a:t>외국인</a:t>
            </a:r>
            <a:r>
              <a:rPr lang="en-US" sz="1600" b="1" dirty="0">
                <a:solidFill>
                  <a:srgbClr val="F5F5F5"/>
                </a:solidFill>
                <a:latin typeface="+mj-ea"/>
                <a:ea typeface="+mj-ea"/>
              </a:rPr>
              <a:t> 취업 정보 구독형 플랫폼</a:t>
            </a:r>
            <a:endParaRPr lang="en-US" sz="1600" dirty="0">
              <a:latin typeface="+mj-ea"/>
              <a:ea typeface="+mj-ea"/>
            </a:endParaRPr>
          </a:p>
        </p:txBody>
      </p:sp>
      <p:pic>
        <p:nvPicPr>
          <p:cNvPr id="5" name="Image 0" descr="preencoded.png"/>
          <p:cNvPicPr>
            <a:picLocks noChangeAspect="1"/>
          </p:cNvPicPr>
          <p:nvPr/>
        </p:nvPicPr>
        <p:blipFill>
          <a:blip r:embed="rId3"/>
          <a:stretch>
            <a:fillRect/>
          </a:stretch>
        </p:blipFill>
        <p:spPr>
          <a:xfrm>
            <a:off x="457200" y="1920240"/>
            <a:ext cx="320040" cy="320040"/>
          </a:xfrm>
          <a:prstGeom prst="rect">
            <a:avLst/>
          </a:prstGeom>
        </p:spPr>
      </p:pic>
      <p:sp>
        <p:nvSpPr>
          <p:cNvPr id="6" name="Text 3"/>
          <p:cNvSpPr/>
          <p:nvPr/>
        </p:nvSpPr>
        <p:spPr>
          <a:xfrm>
            <a:off x="822960" y="1920240"/>
            <a:ext cx="7863840" cy="457200"/>
          </a:xfrm>
          <a:prstGeom prst="rect">
            <a:avLst/>
          </a:prstGeom>
          <a:noFill/>
          <a:ln/>
        </p:spPr>
        <p:txBody>
          <a:bodyPr wrap="square" rtlCol="0" anchor="ctr"/>
          <a:lstStyle/>
          <a:p>
            <a:pPr marL="0" indent="0">
              <a:buNone/>
            </a:pPr>
            <a:r>
              <a:rPr lang="en-US" sz="1200" b="1" dirty="0">
                <a:solidFill>
                  <a:srgbClr val="14213D"/>
                </a:solidFill>
              </a:rPr>
              <a:t>언어 장벽 해소
</a:t>
            </a:r>
            <a:r>
              <a:rPr lang="en-US" sz="900" dirty="0">
                <a:solidFill>
                  <a:srgbClr val="14213D"/>
                </a:solidFill>
              </a:rPr>
              <a:t>200개 언어를 지원하는 NLLB‑200 기반 번역으로 평균 44% 품질 개선.</a:t>
            </a:r>
            <a:endParaRPr lang="en-US" sz="1200" dirty="0"/>
          </a:p>
        </p:txBody>
      </p:sp>
      <p:pic>
        <p:nvPicPr>
          <p:cNvPr id="7" name="Image 1" descr="preencoded.png"/>
          <p:cNvPicPr>
            <a:picLocks noChangeAspect="1"/>
          </p:cNvPicPr>
          <p:nvPr/>
        </p:nvPicPr>
        <p:blipFill>
          <a:blip r:embed="rId4"/>
          <a:stretch>
            <a:fillRect/>
          </a:stretch>
        </p:blipFill>
        <p:spPr>
          <a:xfrm>
            <a:off x="457200" y="2468880"/>
            <a:ext cx="320040" cy="320040"/>
          </a:xfrm>
          <a:prstGeom prst="rect">
            <a:avLst/>
          </a:prstGeom>
        </p:spPr>
      </p:pic>
      <p:sp>
        <p:nvSpPr>
          <p:cNvPr id="8" name="Text 4"/>
          <p:cNvSpPr/>
          <p:nvPr/>
        </p:nvSpPr>
        <p:spPr>
          <a:xfrm>
            <a:off x="822960" y="2468880"/>
            <a:ext cx="7863840" cy="457200"/>
          </a:xfrm>
          <a:prstGeom prst="rect">
            <a:avLst/>
          </a:prstGeom>
          <a:noFill/>
          <a:ln/>
        </p:spPr>
        <p:txBody>
          <a:bodyPr wrap="square" rtlCol="0" anchor="ctr"/>
          <a:lstStyle/>
          <a:p>
            <a:pPr marL="0" indent="0">
              <a:buNone/>
            </a:pPr>
            <a:r>
              <a:rPr lang="en-US" sz="1200" b="1" dirty="0">
                <a:solidFill>
                  <a:srgbClr val="14213D"/>
                </a:solidFill>
              </a:rPr>
              <a:t>AI 매칭 정밀도
</a:t>
            </a:r>
            <a:r>
              <a:rPr lang="en-US" sz="900" dirty="0">
                <a:solidFill>
                  <a:srgbClr val="14213D"/>
                </a:solidFill>
              </a:rPr>
              <a:t>MokaHR 같은 AI 알고리즘을 적용하여 87% 맞춤 매칭, 채용 시간 63% 단축.</a:t>
            </a:r>
            <a:endParaRPr lang="en-US" sz="1200" dirty="0"/>
          </a:p>
        </p:txBody>
      </p:sp>
      <p:pic>
        <p:nvPicPr>
          <p:cNvPr id="9" name="Image 2" descr="preencoded.png"/>
          <p:cNvPicPr>
            <a:picLocks noChangeAspect="1"/>
          </p:cNvPicPr>
          <p:nvPr/>
        </p:nvPicPr>
        <p:blipFill>
          <a:blip r:embed="rId5"/>
          <a:stretch>
            <a:fillRect/>
          </a:stretch>
        </p:blipFill>
        <p:spPr>
          <a:xfrm>
            <a:off x="457200" y="3017520"/>
            <a:ext cx="320040" cy="320040"/>
          </a:xfrm>
          <a:prstGeom prst="rect">
            <a:avLst/>
          </a:prstGeom>
        </p:spPr>
      </p:pic>
      <p:sp>
        <p:nvSpPr>
          <p:cNvPr id="10" name="Text 5"/>
          <p:cNvSpPr/>
          <p:nvPr/>
        </p:nvSpPr>
        <p:spPr>
          <a:xfrm>
            <a:off x="822960" y="3017520"/>
            <a:ext cx="7863840" cy="457200"/>
          </a:xfrm>
          <a:prstGeom prst="rect">
            <a:avLst/>
          </a:prstGeom>
          <a:noFill/>
          <a:ln/>
        </p:spPr>
        <p:txBody>
          <a:bodyPr wrap="square" rtlCol="0" anchor="ctr"/>
          <a:lstStyle/>
          <a:p>
            <a:pPr marL="0" indent="0">
              <a:buNone/>
            </a:pPr>
            <a:r>
              <a:rPr lang="en-US" sz="1200" b="1" dirty="0">
                <a:solidFill>
                  <a:srgbClr val="14213D"/>
                </a:solidFill>
              </a:rPr>
              <a:t>맞춤형 큐레이션
</a:t>
            </a:r>
            <a:r>
              <a:rPr lang="en-US" sz="900" dirty="0">
                <a:solidFill>
                  <a:srgbClr val="14213D"/>
                </a:solidFill>
              </a:rPr>
              <a:t>지역·비자·직무·언어 필터로 사용자의 요구에 맞춘 정보 제공.</a:t>
            </a:r>
            <a:endParaRPr lang="en-US" sz="1200" dirty="0"/>
          </a:p>
        </p:txBody>
      </p:sp>
      <p:pic>
        <p:nvPicPr>
          <p:cNvPr id="11" name="Image 3" descr="preencoded.png"/>
          <p:cNvPicPr>
            <a:picLocks noChangeAspect="1"/>
          </p:cNvPicPr>
          <p:nvPr/>
        </p:nvPicPr>
        <p:blipFill>
          <a:blip r:embed="rId6"/>
          <a:stretch>
            <a:fillRect/>
          </a:stretch>
        </p:blipFill>
        <p:spPr>
          <a:xfrm>
            <a:off x="457200" y="3566160"/>
            <a:ext cx="320040" cy="320040"/>
          </a:xfrm>
          <a:prstGeom prst="rect">
            <a:avLst/>
          </a:prstGeom>
        </p:spPr>
      </p:pic>
      <p:sp>
        <p:nvSpPr>
          <p:cNvPr id="12" name="Text 6"/>
          <p:cNvSpPr/>
          <p:nvPr/>
        </p:nvSpPr>
        <p:spPr>
          <a:xfrm>
            <a:off x="822960" y="3566160"/>
            <a:ext cx="7863840" cy="457200"/>
          </a:xfrm>
          <a:prstGeom prst="rect">
            <a:avLst/>
          </a:prstGeom>
          <a:noFill/>
          <a:ln/>
        </p:spPr>
        <p:txBody>
          <a:bodyPr wrap="square" rtlCol="0" anchor="ctr"/>
          <a:lstStyle/>
          <a:p>
            <a:pPr marL="0" indent="0">
              <a:buNone/>
            </a:pPr>
            <a:r>
              <a:rPr lang="en-US" sz="1200" b="1" dirty="0">
                <a:solidFill>
                  <a:srgbClr val="14213D"/>
                </a:solidFill>
              </a:rPr>
              <a:t>신뢰성 확보
</a:t>
            </a:r>
            <a:r>
              <a:rPr lang="en-US" sz="900" dirty="0">
                <a:solidFill>
                  <a:srgbClr val="14213D"/>
                </a:solidFill>
              </a:rPr>
              <a:t>외국인 인증 배지·비자 검증 기능과 법적 준수 강화.</a:t>
            </a:r>
            <a:endParaRPr lang="en-US" sz="1200" dirty="0"/>
          </a:p>
        </p:txBody>
      </p:sp>
      <p:pic>
        <p:nvPicPr>
          <p:cNvPr id="13" name="Image 4" descr="preencoded.png"/>
          <p:cNvPicPr>
            <a:picLocks noChangeAspect="1"/>
          </p:cNvPicPr>
          <p:nvPr/>
        </p:nvPicPr>
        <p:blipFill>
          <a:blip r:embed="rId7"/>
          <a:stretch>
            <a:fillRect/>
          </a:stretch>
        </p:blipFill>
        <p:spPr>
          <a:xfrm>
            <a:off x="457200" y="4114800"/>
            <a:ext cx="320040" cy="320040"/>
          </a:xfrm>
          <a:prstGeom prst="rect">
            <a:avLst/>
          </a:prstGeom>
        </p:spPr>
      </p:pic>
      <p:sp>
        <p:nvSpPr>
          <p:cNvPr id="14" name="Text 7"/>
          <p:cNvSpPr/>
          <p:nvPr/>
        </p:nvSpPr>
        <p:spPr>
          <a:xfrm>
            <a:off x="822960" y="4114800"/>
            <a:ext cx="7863840" cy="457200"/>
          </a:xfrm>
          <a:prstGeom prst="rect">
            <a:avLst/>
          </a:prstGeom>
          <a:noFill/>
          <a:ln/>
        </p:spPr>
        <p:txBody>
          <a:bodyPr wrap="square" rtlCol="0" anchor="ctr"/>
          <a:lstStyle/>
          <a:p>
            <a:pPr marL="0" indent="0">
              <a:buNone/>
            </a:pPr>
            <a:r>
              <a:rPr lang="en-US" sz="1200" b="1" dirty="0">
                <a:solidFill>
                  <a:srgbClr val="14213D"/>
                </a:solidFill>
              </a:rPr>
              <a:t>구독 모델 구축
</a:t>
            </a:r>
            <a:r>
              <a:rPr lang="en-US" sz="900" dirty="0">
                <a:solidFill>
                  <a:srgbClr val="14213D"/>
                </a:solidFill>
              </a:rPr>
              <a:t>유료 구독·API 활용 등 지속 가능하고 확장 가능한 수익 구조.</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14213D"/>
                </a:solidFill>
              </a:rPr>
              <a:t>기술 개발의 독창성과 차별성</a:t>
            </a:r>
            <a:endParaRPr lang="en-US" sz="2400" dirty="0"/>
          </a:p>
        </p:txBody>
      </p:sp>
      <p:sp>
        <p:nvSpPr>
          <p:cNvPr id="4" name="Text 2"/>
          <p:cNvSpPr/>
          <p:nvPr/>
        </p:nvSpPr>
        <p:spPr>
          <a:xfrm>
            <a:off x="457200" y="960120"/>
            <a:ext cx="4206240" cy="365760"/>
          </a:xfrm>
          <a:prstGeom prst="rect">
            <a:avLst/>
          </a:prstGeom>
          <a:noFill/>
          <a:ln/>
        </p:spPr>
        <p:txBody>
          <a:bodyPr wrap="square" rtlCol="0" anchor="ctr"/>
          <a:lstStyle/>
          <a:p>
            <a:pPr marL="0" indent="0">
              <a:buNone/>
            </a:pPr>
            <a:r>
              <a:rPr lang="en-US" sz="1400" b="1" dirty="0">
                <a:solidFill>
                  <a:srgbClr val="F5F5F5"/>
                </a:solidFill>
              </a:rPr>
              <a:t>독창적 기술</a:t>
            </a:r>
            <a:endParaRPr lang="en-US" sz="1400" dirty="0"/>
          </a:p>
        </p:txBody>
      </p:sp>
      <p:sp>
        <p:nvSpPr>
          <p:cNvPr id="17" name="Title 1">
            <a:extLst>
              <a:ext uri="{FF2B5EF4-FFF2-40B4-BE49-F238E27FC236}">
                <a16:creationId xmlns:a16="http://schemas.microsoft.com/office/drawing/2014/main" id="{17132D43-9FC8-E23F-988B-AD4C23265628}"/>
              </a:ext>
            </a:extLst>
          </p:cNvPr>
          <p:cNvSpPr txBox="1">
            <a:spLocks/>
          </p:cNvSpPr>
          <p:nvPr/>
        </p:nvSpPr>
        <p:spPr>
          <a:xfrm>
            <a:off x="457200" y="848333"/>
            <a:ext cx="1165740" cy="28150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ko-KR" altLang="en-US" sz="1400" dirty="0"/>
              <a:t>서비스 개요</a:t>
            </a:r>
          </a:p>
        </p:txBody>
      </p:sp>
      <p:sp>
        <p:nvSpPr>
          <p:cNvPr id="18" name="Content Placeholder 2">
            <a:extLst>
              <a:ext uri="{FF2B5EF4-FFF2-40B4-BE49-F238E27FC236}">
                <a16:creationId xmlns:a16="http://schemas.microsoft.com/office/drawing/2014/main" id="{C793D6D9-CC02-0E38-AB38-44D6C2D59DF3}"/>
              </a:ext>
            </a:extLst>
          </p:cNvPr>
          <p:cNvSpPr txBox="1">
            <a:spLocks/>
          </p:cNvSpPr>
          <p:nvPr/>
        </p:nvSpPr>
        <p:spPr>
          <a:xfrm>
            <a:off x="1717971" y="1325880"/>
            <a:ext cx="5890938" cy="134885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ko-KR" altLang="en-US" sz="900" dirty="0">
              <a:latin typeface="+mj-ea"/>
              <a:ea typeface="+mj-ea"/>
            </a:endParaRPr>
          </a:p>
          <a:p>
            <a:pPr marL="0" indent="0">
              <a:buNone/>
              <a:defRPr sz="1600"/>
            </a:pPr>
            <a:r>
              <a:rPr lang="ko-KR" altLang="en-US" sz="900" dirty="0">
                <a:latin typeface="+mj-ea"/>
                <a:ea typeface="+mj-ea"/>
              </a:rPr>
              <a:t>다국어 번역 기반의 취업정보 구독 서비스</a:t>
            </a:r>
            <a:r>
              <a:rPr lang="en-US" altLang="ko-KR" sz="900" dirty="0">
                <a:latin typeface="+mj-ea"/>
                <a:ea typeface="+mj-ea"/>
              </a:rPr>
              <a:t>: </a:t>
            </a:r>
            <a:r>
              <a:rPr lang="ko-KR" altLang="en-US" sz="900" dirty="0">
                <a:latin typeface="+mj-ea"/>
                <a:ea typeface="+mj-ea"/>
              </a:rPr>
              <a:t>외국인 구직자가 한국어 공고를 모국어로 받아보고</a:t>
            </a:r>
            <a:r>
              <a:rPr lang="en-US" altLang="ko-KR" sz="900" dirty="0">
                <a:latin typeface="+mj-ea"/>
                <a:ea typeface="+mj-ea"/>
              </a:rPr>
              <a:t>, </a:t>
            </a:r>
            <a:r>
              <a:rPr lang="ko-KR" altLang="en-US" sz="900" dirty="0">
                <a:latin typeface="+mj-ea"/>
                <a:ea typeface="+mj-ea"/>
              </a:rPr>
              <a:t>모국어 이력서를 한국어로 변환합니다</a:t>
            </a:r>
            <a:r>
              <a:rPr lang="en-US" altLang="ko-KR" sz="900" dirty="0">
                <a:latin typeface="+mj-ea"/>
                <a:ea typeface="+mj-ea"/>
              </a:rPr>
              <a:t>. </a:t>
            </a:r>
            <a:r>
              <a:rPr lang="en-US" altLang="ko-KR" sz="900" dirty="0"/>
              <a:t>NLLB‑200 </a:t>
            </a:r>
            <a:r>
              <a:rPr lang="ko-KR" altLang="en-US" sz="900" dirty="0"/>
              <a:t>등의 최신 신경망 번역 모델을 적용하여 </a:t>
            </a:r>
            <a:r>
              <a:rPr lang="en-US" altLang="ko-KR" sz="900" dirty="0"/>
              <a:t>200</a:t>
            </a:r>
            <a:r>
              <a:rPr lang="ko-KR" altLang="en-US" sz="900" dirty="0"/>
              <a:t>여 개 언어 간 자연스럽고 정확한 번역을 제공하며</a:t>
            </a:r>
            <a:r>
              <a:rPr lang="en-US" altLang="ko-KR" sz="900" dirty="0"/>
              <a:t>, </a:t>
            </a:r>
            <a:r>
              <a:rPr lang="ko-KR" altLang="en-US" sz="900" dirty="0"/>
              <a:t>번역 품질을 지속적으로 개선합니다</a:t>
            </a:r>
            <a:r>
              <a:rPr lang="en-US" altLang="ko-KR" sz="900" dirty="0"/>
              <a:t>.</a:t>
            </a:r>
          </a:p>
          <a:p>
            <a:pPr marL="0" indent="0">
              <a:buNone/>
              <a:defRPr sz="1600"/>
            </a:pPr>
            <a:endParaRPr lang="en-US" altLang="ko-KR" sz="900" dirty="0">
              <a:latin typeface="+mj-ea"/>
              <a:ea typeface="+mj-ea"/>
            </a:endParaRPr>
          </a:p>
          <a:p>
            <a:pPr>
              <a:defRPr sz="1600"/>
            </a:pPr>
            <a:endParaRPr lang="en-US" altLang="ko-KR" sz="900" dirty="0">
              <a:latin typeface="+mj-ea"/>
              <a:ea typeface="+mj-ea"/>
            </a:endParaRPr>
          </a:p>
          <a:p>
            <a:pPr marL="0" indent="0">
              <a:buNone/>
              <a:defRPr sz="1600"/>
            </a:pPr>
            <a:r>
              <a:rPr lang="en-US" altLang="ko-KR" sz="900" dirty="0">
                <a:latin typeface="+mj-ea"/>
                <a:ea typeface="+mj-ea"/>
              </a:rPr>
              <a:t>AI </a:t>
            </a:r>
            <a:r>
              <a:rPr lang="ko-KR" altLang="en-US" sz="900" dirty="0">
                <a:latin typeface="+mj-ea"/>
                <a:ea typeface="+mj-ea"/>
              </a:rPr>
              <a:t>매칭 알고리즘을 활용한 정밀 일자리 추천</a:t>
            </a:r>
            <a:r>
              <a:rPr lang="en-US" altLang="ko-KR" sz="900" dirty="0">
                <a:latin typeface="+mj-ea"/>
                <a:ea typeface="+mj-ea"/>
              </a:rPr>
              <a:t>: </a:t>
            </a:r>
            <a:r>
              <a:rPr lang="ko-KR" altLang="en-US" sz="900" dirty="0">
                <a:latin typeface="+mj-ea"/>
                <a:ea typeface="+mj-ea"/>
              </a:rPr>
              <a:t>기술</a:t>
            </a:r>
            <a:r>
              <a:rPr lang="en-US" altLang="ko-KR" sz="900" dirty="0">
                <a:latin typeface="+mj-ea"/>
                <a:ea typeface="+mj-ea"/>
              </a:rPr>
              <a:t>·</a:t>
            </a:r>
            <a:r>
              <a:rPr lang="ko-KR" altLang="en-US" sz="900" dirty="0">
                <a:latin typeface="+mj-ea"/>
                <a:ea typeface="+mj-ea"/>
              </a:rPr>
              <a:t>경력</a:t>
            </a:r>
            <a:r>
              <a:rPr lang="en-US" altLang="ko-KR" sz="900" dirty="0">
                <a:latin typeface="+mj-ea"/>
                <a:ea typeface="+mj-ea"/>
              </a:rPr>
              <a:t>·</a:t>
            </a:r>
            <a:r>
              <a:rPr lang="ko-KR" altLang="en-US" sz="900" dirty="0">
                <a:latin typeface="+mj-ea"/>
                <a:ea typeface="+mj-ea"/>
              </a:rPr>
              <a:t>비자 상태를 분석하여 기업과 구직자의 적합도를 높입니다</a:t>
            </a:r>
            <a:r>
              <a:rPr lang="en-US" altLang="ko-KR" sz="900" dirty="0">
                <a:latin typeface="+mj-ea"/>
                <a:ea typeface="+mj-ea"/>
              </a:rPr>
              <a:t>. </a:t>
            </a:r>
            <a:r>
              <a:rPr lang="en-US" altLang="ko-KR" sz="900" dirty="0"/>
              <a:t>AI </a:t>
            </a:r>
            <a:r>
              <a:rPr lang="ko-KR" altLang="en-US" sz="900" dirty="0"/>
              <a:t>매칭 엔진은 구직자의 기술</a:t>
            </a:r>
            <a:r>
              <a:rPr lang="en-US" altLang="ko-KR" sz="900" dirty="0"/>
              <a:t>·</a:t>
            </a:r>
            <a:r>
              <a:rPr lang="ko-KR" altLang="en-US" sz="900" dirty="0"/>
              <a:t>경력</a:t>
            </a:r>
            <a:r>
              <a:rPr lang="en-US" altLang="ko-KR" sz="900" dirty="0"/>
              <a:t>·</a:t>
            </a:r>
            <a:r>
              <a:rPr lang="ko-KR" altLang="en-US" sz="900" dirty="0"/>
              <a:t>비자 정보를 분석하여 매칭 정확도를 </a:t>
            </a:r>
            <a:r>
              <a:rPr lang="en-US" altLang="ko-KR" sz="900" dirty="0"/>
              <a:t>87% </a:t>
            </a:r>
            <a:r>
              <a:rPr lang="ko-KR" altLang="en-US" sz="900" dirty="0"/>
              <a:t>이상으로 높여 기업의 채용 리스크를 줄입니다</a:t>
            </a:r>
            <a:r>
              <a:rPr lang="en-US" altLang="ko-KR" sz="900" dirty="0"/>
              <a:t>.</a:t>
            </a:r>
          </a:p>
          <a:p>
            <a:pPr marL="0" indent="0">
              <a:buNone/>
              <a:defRPr sz="1600"/>
            </a:pPr>
            <a:endParaRPr lang="en-US" altLang="ko-KR" sz="900" dirty="0">
              <a:latin typeface="+mj-ea"/>
              <a:ea typeface="+mj-ea"/>
            </a:endParaRPr>
          </a:p>
          <a:p>
            <a:pPr>
              <a:defRPr sz="1600"/>
            </a:pPr>
            <a:endParaRPr lang="en-US" altLang="ko-KR" sz="900" dirty="0">
              <a:latin typeface="+mj-ea"/>
              <a:ea typeface="+mj-ea"/>
            </a:endParaRPr>
          </a:p>
          <a:p>
            <a:pPr marL="0" indent="0">
              <a:buNone/>
              <a:defRPr sz="1600"/>
            </a:pPr>
            <a:r>
              <a:rPr lang="ko-KR" altLang="en-US" sz="900" dirty="0">
                <a:latin typeface="+mj-ea"/>
                <a:ea typeface="+mj-ea"/>
              </a:rPr>
              <a:t>모바일과 웹을 통한 손쉬운 구독 및 알림 기능으로 일자리 정보 접근성을 획기적으로 개선합니다</a:t>
            </a:r>
            <a:r>
              <a:rPr lang="en-US" altLang="ko-KR" sz="900" dirty="0">
                <a:latin typeface="+mj-ea"/>
                <a:ea typeface="+mj-ea"/>
              </a:rPr>
              <a:t>. </a:t>
            </a:r>
            <a:r>
              <a:rPr lang="ko-KR" altLang="en-US" sz="900" dirty="0"/>
              <a:t>사용자 행동 데이터와 피드백을 학습해 추천 로직을 고도화하고</a:t>
            </a:r>
            <a:r>
              <a:rPr lang="en-US" altLang="ko-KR" sz="900" dirty="0"/>
              <a:t>, </a:t>
            </a:r>
            <a:r>
              <a:rPr lang="ko-KR" altLang="en-US" sz="900" dirty="0"/>
              <a:t>정부의 디지털 고용전환 전략과 일치하는 인공지능 기술을 적용합니다</a:t>
            </a:r>
            <a:r>
              <a:rPr lang="en-US" altLang="ko-KR" sz="900" dirty="0"/>
              <a:t>.</a:t>
            </a:r>
          </a:p>
          <a:p>
            <a:pPr marL="0" indent="0">
              <a:buNone/>
              <a:defRPr sz="1600"/>
            </a:pPr>
            <a:endParaRPr lang="en-US" altLang="ko-KR" sz="900" dirty="0">
              <a:latin typeface="+mj-ea"/>
              <a:ea typeface="+mj-ea"/>
            </a:endParaRPr>
          </a:p>
        </p:txBody>
      </p:sp>
      <p:pic>
        <p:nvPicPr>
          <p:cNvPr id="19" name="Image 0" descr="preencoded.png">
            <a:extLst>
              <a:ext uri="{FF2B5EF4-FFF2-40B4-BE49-F238E27FC236}">
                <a16:creationId xmlns:a16="http://schemas.microsoft.com/office/drawing/2014/main" id="{2C0B1375-6861-9306-BD4D-D08360124DEA}"/>
              </a:ext>
            </a:extLst>
          </p:cNvPr>
          <p:cNvPicPr>
            <a:picLocks noChangeAspect="1"/>
          </p:cNvPicPr>
          <p:nvPr/>
        </p:nvPicPr>
        <p:blipFill>
          <a:blip r:embed="rId3"/>
          <a:stretch>
            <a:fillRect/>
          </a:stretch>
        </p:blipFill>
        <p:spPr>
          <a:xfrm>
            <a:off x="1302900" y="1484224"/>
            <a:ext cx="320040" cy="320040"/>
          </a:xfrm>
          <a:prstGeom prst="rect">
            <a:avLst/>
          </a:prstGeom>
        </p:spPr>
      </p:pic>
      <p:pic>
        <p:nvPicPr>
          <p:cNvPr id="20" name="Image 1" descr="preencoded.png">
            <a:extLst>
              <a:ext uri="{FF2B5EF4-FFF2-40B4-BE49-F238E27FC236}">
                <a16:creationId xmlns:a16="http://schemas.microsoft.com/office/drawing/2014/main" id="{89AF3E99-DA73-B5B8-19B1-58A8008F7C15}"/>
              </a:ext>
            </a:extLst>
          </p:cNvPr>
          <p:cNvPicPr>
            <a:picLocks noChangeAspect="1"/>
          </p:cNvPicPr>
          <p:nvPr/>
        </p:nvPicPr>
        <p:blipFill>
          <a:blip r:embed="rId4"/>
          <a:stretch>
            <a:fillRect/>
          </a:stretch>
        </p:blipFill>
        <p:spPr>
          <a:xfrm>
            <a:off x="1302900" y="2354699"/>
            <a:ext cx="320040" cy="320040"/>
          </a:xfrm>
          <a:prstGeom prst="rect">
            <a:avLst/>
          </a:prstGeom>
        </p:spPr>
      </p:pic>
      <p:pic>
        <p:nvPicPr>
          <p:cNvPr id="21" name="Image 3" descr="preencoded.png">
            <a:extLst>
              <a:ext uri="{FF2B5EF4-FFF2-40B4-BE49-F238E27FC236}">
                <a16:creationId xmlns:a16="http://schemas.microsoft.com/office/drawing/2014/main" id="{AD83ABEA-64AE-3ED1-FD7E-A649696F32D0}"/>
              </a:ext>
            </a:extLst>
          </p:cNvPr>
          <p:cNvPicPr>
            <a:picLocks noChangeAspect="1"/>
          </p:cNvPicPr>
          <p:nvPr/>
        </p:nvPicPr>
        <p:blipFill>
          <a:blip r:embed="rId5"/>
          <a:stretch>
            <a:fillRect/>
          </a:stretch>
        </p:blipFill>
        <p:spPr>
          <a:xfrm>
            <a:off x="1302900" y="3104053"/>
            <a:ext cx="320040" cy="320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20ACF-896E-552F-BBF4-42C9D695521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154DB96-4C63-4FC2-13F0-E7BBB3677D12}"/>
              </a:ext>
            </a:extLst>
          </p:cNvPr>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14213D"/>
                </a:solidFill>
              </a:rPr>
              <a:t>기술 개발의 독창성과 차별성</a:t>
            </a:r>
            <a:endParaRPr lang="en-US" sz="2400" dirty="0"/>
          </a:p>
        </p:txBody>
      </p:sp>
      <p:sp>
        <p:nvSpPr>
          <p:cNvPr id="3" name="Shape 1">
            <a:extLst>
              <a:ext uri="{FF2B5EF4-FFF2-40B4-BE49-F238E27FC236}">
                <a16:creationId xmlns:a16="http://schemas.microsoft.com/office/drawing/2014/main" id="{669C0A35-94E5-C54E-464B-F3B7D56D56A1}"/>
              </a:ext>
            </a:extLst>
          </p:cNvPr>
          <p:cNvSpPr/>
          <p:nvPr/>
        </p:nvSpPr>
        <p:spPr>
          <a:xfrm>
            <a:off x="365760" y="914400"/>
            <a:ext cx="4389120" cy="3291840"/>
          </a:xfrm>
          <a:prstGeom prst="roundRect">
            <a:avLst>
              <a:gd name="adj" fmla="val 1389"/>
            </a:avLst>
          </a:prstGeom>
          <a:solidFill>
            <a:schemeClr val="accent6">
              <a:lumMod val="60000"/>
              <a:lumOff val="40000"/>
            </a:schemeClr>
          </a:solidFill>
          <a:ln w="12700">
            <a:solidFill>
              <a:srgbClr val="007C91"/>
            </a:solidFill>
            <a:prstDash val="solid"/>
          </a:ln>
        </p:spPr>
        <p:txBody>
          <a:bodyPr/>
          <a:lstStyle/>
          <a:p>
            <a:endParaRPr/>
          </a:p>
        </p:txBody>
      </p:sp>
      <p:sp>
        <p:nvSpPr>
          <p:cNvPr id="4" name="Text 2">
            <a:extLst>
              <a:ext uri="{FF2B5EF4-FFF2-40B4-BE49-F238E27FC236}">
                <a16:creationId xmlns:a16="http://schemas.microsoft.com/office/drawing/2014/main" id="{D24FF4D3-2466-F235-A893-19936225E1D6}"/>
              </a:ext>
            </a:extLst>
          </p:cNvPr>
          <p:cNvSpPr/>
          <p:nvPr/>
        </p:nvSpPr>
        <p:spPr>
          <a:xfrm>
            <a:off x="457200" y="960120"/>
            <a:ext cx="4206240" cy="365760"/>
          </a:xfrm>
          <a:prstGeom prst="rect">
            <a:avLst/>
          </a:prstGeom>
          <a:noFill/>
          <a:ln/>
        </p:spPr>
        <p:txBody>
          <a:bodyPr wrap="square" rtlCol="0" anchor="ctr"/>
          <a:lstStyle/>
          <a:p>
            <a:pPr marL="0" indent="0">
              <a:buNone/>
            </a:pPr>
            <a:r>
              <a:rPr lang="en-US" sz="1400" b="1" dirty="0">
                <a:solidFill>
                  <a:srgbClr val="F5F5F5"/>
                </a:solidFill>
              </a:rPr>
              <a:t>독창적 기술</a:t>
            </a:r>
            <a:endParaRPr lang="en-US" sz="1400" dirty="0"/>
          </a:p>
        </p:txBody>
      </p:sp>
      <p:pic>
        <p:nvPicPr>
          <p:cNvPr id="5" name="Image 0" descr="preencoded.png">
            <a:extLst>
              <a:ext uri="{FF2B5EF4-FFF2-40B4-BE49-F238E27FC236}">
                <a16:creationId xmlns:a16="http://schemas.microsoft.com/office/drawing/2014/main" id="{72ADECF3-485F-B885-8F28-E8DFC2B6F349}"/>
              </a:ext>
            </a:extLst>
          </p:cNvPr>
          <p:cNvPicPr>
            <a:picLocks noChangeAspect="1"/>
          </p:cNvPicPr>
          <p:nvPr/>
        </p:nvPicPr>
        <p:blipFill>
          <a:blip r:embed="rId3"/>
          <a:stretch>
            <a:fillRect/>
          </a:stretch>
        </p:blipFill>
        <p:spPr>
          <a:xfrm>
            <a:off x="457200" y="1394460"/>
            <a:ext cx="320040" cy="320040"/>
          </a:xfrm>
          <a:prstGeom prst="rect">
            <a:avLst/>
          </a:prstGeom>
        </p:spPr>
      </p:pic>
      <p:sp>
        <p:nvSpPr>
          <p:cNvPr id="6" name="Text 3">
            <a:extLst>
              <a:ext uri="{FF2B5EF4-FFF2-40B4-BE49-F238E27FC236}">
                <a16:creationId xmlns:a16="http://schemas.microsoft.com/office/drawing/2014/main" id="{41E29EB7-817D-79F8-9691-849AA852B2BD}"/>
              </a:ext>
            </a:extLst>
          </p:cNvPr>
          <p:cNvSpPr/>
          <p:nvPr/>
        </p:nvSpPr>
        <p:spPr>
          <a:xfrm>
            <a:off x="822960" y="1280160"/>
            <a:ext cx="3931920" cy="548640"/>
          </a:xfrm>
          <a:prstGeom prst="rect">
            <a:avLst/>
          </a:prstGeom>
          <a:noFill/>
          <a:ln/>
        </p:spPr>
        <p:txBody>
          <a:bodyPr wrap="square" rtlCol="0" anchor="ctr"/>
          <a:lstStyle/>
          <a:p>
            <a:pPr marL="0" indent="0">
              <a:buNone/>
            </a:pPr>
            <a:r>
              <a:rPr lang="en-US" sz="1100" b="1" dirty="0">
                <a:solidFill>
                  <a:srgbClr val="F5F5F5"/>
                </a:solidFill>
              </a:rPr>
              <a:t>NLLB‑200 번역 엔진
</a:t>
            </a:r>
            <a:r>
              <a:rPr lang="en-US" sz="800" dirty="0">
                <a:solidFill>
                  <a:srgbClr val="F5F5F5"/>
                </a:solidFill>
              </a:rPr>
              <a:t>200개 언어를 지원하며 일부 아프리카 언어에서는 70% 이상의 품질 개선.</a:t>
            </a:r>
            <a:endParaRPr lang="en-US" sz="1100" dirty="0"/>
          </a:p>
        </p:txBody>
      </p:sp>
      <p:sp>
        <p:nvSpPr>
          <p:cNvPr id="8" name="Text 4">
            <a:extLst>
              <a:ext uri="{FF2B5EF4-FFF2-40B4-BE49-F238E27FC236}">
                <a16:creationId xmlns:a16="http://schemas.microsoft.com/office/drawing/2014/main" id="{100370A2-4C77-4EE6-584C-D80F93125885}"/>
              </a:ext>
            </a:extLst>
          </p:cNvPr>
          <p:cNvSpPr/>
          <p:nvPr/>
        </p:nvSpPr>
        <p:spPr>
          <a:xfrm>
            <a:off x="822960" y="1920240"/>
            <a:ext cx="3931920" cy="548640"/>
          </a:xfrm>
          <a:prstGeom prst="rect">
            <a:avLst/>
          </a:prstGeom>
          <a:noFill/>
          <a:ln/>
        </p:spPr>
        <p:txBody>
          <a:bodyPr wrap="square" rtlCol="0" anchor="ctr"/>
          <a:lstStyle/>
          <a:p>
            <a:pPr marL="0" indent="0">
              <a:buNone/>
            </a:pPr>
            <a:r>
              <a:rPr lang="en-US" sz="1100" b="1" dirty="0">
                <a:solidFill>
                  <a:srgbClr val="F5F5F5"/>
                </a:solidFill>
              </a:rPr>
              <a:t>AI 매칭 알고리즘
</a:t>
            </a:r>
            <a:r>
              <a:rPr lang="en-US" sz="800" dirty="0">
                <a:solidFill>
                  <a:srgbClr val="F5F5F5"/>
                </a:solidFill>
              </a:rPr>
              <a:t>MokaHR 스타일의 AI로 높은 매칭 정확도와 빠른 선발.</a:t>
            </a:r>
            <a:endParaRPr lang="en-US" sz="1100" dirty="0"/>
          </a:p>
        </p:txBody>
      </p:sp>
      <p:pic>
        <p:nvPicPr>
          <p:cNvPr id="9" name="Image 2" descr="preencoded.png">
            <a:extLst>
              <a:ext uri="{FF2B5EF4-FFF2-40B4-BE49-F238E27FC236}">
                <a16:creationId xmlns:a16="http://schemas.microsoft.com/office/drawing/2014/main" id="{296E843F-CAAB-3985-8BBF-F141B5F572C8}"/>
              </a:ext>
            </a:extLst>
          </p:cNvPr>
          <p:cNvPicPr>
            <a:picLocks noChangeAspect="1"/>
          </p:cNvPicPr>
          <p:nvPr/>
        </p:nvPicPr>
        <p:blipFill>
          <a:blip r:embed="rId4"/>
          <a:stretch>
            <a:fillRect/>
          </a:stretch>
        </p:blipFill>
        <p:spPr>
          <a:xfrm>
            <a:off x="457200" y="2697480"/>
            <a:ext cx="320040" cy="320040"/>
          </a:xfrm>
          <a:prstGeom prst="rect">
            <a:avLst/>
          </a:prstGeom>
        </p:spPr>
      </p:pic>
      <p:sp>
        <p:nvSpPr>
          <p:cNvPr id="10" name="Text 5">
            <a:extLst>
              <a:ext uri="{FF2B5EF4-FFF2-40B4-BE49-F238E27FC236}">
                <a16:creationId xmlns:a16="http://schemas.microsoft.com/office/drawing/2014/main" id="{25831D25-B690-BFCA-0E49-46C06C674A7F}"/>
              </a:ext>
            </a:extLst>
          </p:cNvPr>
          <p:cNvSpPr/>
          <p:nvPr/>
        </p:nvSpPr>
        <p:spPr>
          <a:xfrm>
            <a:off x="822960" y="2560320"/>
            <a:ext cx="3931920" cy="548640"/>
          </a:xfrm>
          <a:prstGeom prst="rect">
            <a:avLst/>
          </a:prstGeom>
          <a:noFill/>
          <a:ln/>
        </p:spPr>
        <p:txBody>
          <a:bodyPr wrap="square" rtlCol="0" anchor="ctr"/>
          <a:lstStyle/>
          <a:p>
            <a:pPr marL="0" indent="0">
              <a:buNone/>
            </a:pPr>
            <a:r>
              <a:rPr lang="en-US" sz="1100" b="1" dirty="0">
                <a:solidFill>
                  <a:srgbClr val="F5F5F5"/>
                </a:solidFill>
              </a:rPr>
              <a:t>번역 캐싱·스케줄링
</a:t>
            </a:r>
            <a:r>
              <a:rPr lang="en-US" sz="800" dirty="0">
                <a:solidFill>
                  <a:srgbClr val="F5F5F5"/>
                </a:solidFill>
              </a:rPr>
              <a:t>중복 번역을 최소화해 빠르고 효율적으로 컨텐츠 업데이트.</a:t>
            </a:r>
            <a:endParaRPr lang="en-US" sz="1100" dirty="0"/>
          </a:p>
        </p:txBody>
      </p:sp>
      <p:pic>
        <p:nvPicPr>
          <p:cNvPr id="11" name="Image 3" descr="preencoded.png">
            <a:extLst>
              <a:ext uri="{FF2B5EF4-FFF2-40B4-BE49-F238E27FC236}">
                <a16:creationId xmlns:a16="http://schemas.microsoft.com/office/drawing/2014/main" id="{8C9D6A38-4816-BEDD-F541-2D6D47A00290}"/>
              </a:ext>
            </a:extLst>
          </p:cNvPr>
          <p:cNvPicPr>
            <a:picLocks noChangeAspect="1"/>
          </p:cNvPicPr>
          <p:nvPr/>
        </p:nvPicPr>
        <p:blipFill>
          <a:blip r:embed="rId5"/>
          <a:stretch>
            <a:fillRect/>
          </a:stretch>
        </p:blipFill>
        <p:spPr>
          <a:xfrm>
            <a:off x="457200" y="3314700"/>
            <a:ext cx="320040" cy="320040"/>
          </a:xfrm>
          <a:prstGeom prst="rect">
            <a:avLst/>
          </a:prstGeom>
        </p:spPr>
      </p:pic>
      <p:sp>
        <p:nvSpPr>
          <p:cNvPr id="12" name="Text 6">
            <a:extLst>
              <a:ext uri="{FF2B5EF4-FFF2-40B4-BE49-F238E27FC236}">
                <a16:creationId xmlns:a16="http://schemas.microsoft.com/office/drawing/2014/main" id="{A2AD9E7D-399D-0F23-55D7-72ED6666B26B}"/>
              </a:ext>
            </a:extLst>
          </p:cNvPr>
          <p:cNvSpPr/>
          <p:nvPr/>
        </p:nvSpPr>
        <p:spPr>
          <a:xfrm>
            <a:off x="822960" y="3200400"/>
            <a:ext cx="3931920" cy="548640"/>
          </a:xfrm>
          <a:prstGeom prst="rect">
            <a:avLst/>
          </a:prstGeom>
          <a:noFill/>
          <a:ln/>
        </p:spPr>
        <p:txBody>
          <a:bodyPr wrap="square" rtlCol="0" anchor="ctr"/>
          <a:lstStyle/>
          <a:p>
            <a:pPr marL="0" indent="0">
              <a:buNone/>
            </a:pPr>
            <a:r>
              <a:rPr lang="en-US" sz="1100" b="1" dirty="0">
                <a:solidFill>
                  <a:srgbClr val="F5F5F5"/>
                </a:solidFill>
              </a:rPr>
              <a:t>e‑월렛·API 연동
</a:t>
            </a:r>
            <a:r>
              <a:rPr lang="en-US" sz="800" dirty="0">
                <a:solidFill>
                  <a:srgbClr val="F5F5F5"/>
                </a:solidFill>
              </a:rPr>
              <a:t>구독 결제, 마일리지 및 파트너사를 위한 B2B API 제공.</a:t>
            </a:r>
            <a:endParaRPr lang="en-US" sz="1100" dirty="0"/>
          </a:p>
        </p:txBody>
      </p:sp>
      <p:graphicFrame>
        <p:nvGraphicFramePr>
          <p:cNvPr id="13" name="Table 0">
            <a:extLst>
              <a:ext uri="{FF2B5EF4-FFF2-40B4-BE49-F238E27FC236}">
                <a16:creationId xmlns:a16="http://schemas.microsoft.com/office/drawing/2014/main" id="{0A9C6519-3865-9BE5-7FB6-148B369FE572}"/>
              </a:ext>
            </a:extLst>
          </p:cNvPr>
          <p:cNvGraphicFramePr>
            <a:graphicFrameLocks noGrp="1"/>
          </p:cNvGraphicFramePr>
          <p:nvPr/>
        </p:nvGraphicFramePr>
        <p:xfrm>
          <a:off x="4846320" y="914400"/>
          <a:ext cx="3840480" cy="1828800"/>
        </p:xfrm>
        <a:graphic>
          <a:graphicData uri="http://schemas.openxmlformats.org/drawingml/2006/table">
            <a:tbl>
              <a:tblPr/>
              <a:tblGrid>
                <a:gridCol w="10058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65760">
                <a:tc>
                  <a:txBody>
                    <a:bodyPr/>
                    <a:lstStyle/>
                    <a:p>
                      <a:pPr marL="0" indent="0" algn="ctr">
                        <a:buNone/>
                      </a:pPr>
                      <a:r>
                        <a:rPr lang="en-US" sz="800" b="1" dirty="0">
                          <a:solidFill>
                            <a:srgbClr val="F5F5F5"/>
                          </a:solidFill>
                        </a:rPr>
                        <a:t>항목</a:t>
                      </a:r>
                      <a:endParaRPr lang="en-US" sz="8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4213D"/>
                    </a:solidFill>
                  </a:tcPr>
                </a:tc>
                <a:tc>
                  <a:txBody>
                    <a:bodyPr/>
                    <a:lstStyle/>
                    <a:p>
                      <a:pPr marL="0" indent="0" algn="ctr">
                        <a:buNone/>
                      </a:pPr>
                      <a:r>
                        <a:rPr lang="en-US" sz="800" b="1" dirty="0">
                          <a:solidFill>
                            <a:srgbClr val="F5F5F5"/>
                          </a:solidFill>
                        </a:rPr>
                        <a:t>KLiK (JobKorea)</a:t>
                      </a:r>
                      <a:endParaRPr lang="en-US" sz="8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chemeClr val="accent6">
                        <a:lumMod val="60000"/>
                        <a:lumOff val="40000"/>
                      </a:schemeClr>
                    </a:solidFill>
                  </a:tcPr>
                </a:tc>
                <a:tc>
                  <a:txBody>
                    <a:bodyPr/>
                    <a:lstStyle/>
                    <a:p>
                      <a:pPr marL="0" indent="0" algn="ctr">
                        <a:buNone/>
                      </a:pPr>
                      <a:r>
                        <a:rPr lang="en-US" sz="800" b="1" dirty="0">
                          <a:solidFill>
                            <a:srgbClr val="F5F5F5"/>
                          </a:solidFill>
                        </a:rPr>
                        <a:t>KoMate (Saramin)</a:t>
                      </a:r>
                      <a:endParaRPr lang="en-US" sz="8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chemeClr val="accent6">
                        <a:lumMod val="60000"/>
                        <a:lumOff val="40000"/>
                      </a:schemeClr>
                    </a:solidFill>
                  </a:tcPr>
                </a:tc>
                <a:tc>
                  <a:txBody>
                    <a:bodyPr/>
                    <a:lstStyle/>
                    <a:p>
                      <a:pPr marL="0" indent="0" algn="ctr">
                        <a:buNone/>
                      </a:pPr>
                      <a:r>
                        <a:rPr lang="en-US" sz="800" b="1" dirty="0">
                          <a:solidFill>
                            <a:srgbClr val="14213D"/>
                          </a:solidFill>
                        </a:rPr>
                        <a:t>우리 플랫폼</a:t>
                      </a:r>
                      <a:endParaRPr lang="en-US" sz="8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CA311"/>
                    </a:solidFill>
                  </a:tcPr>
                </a:tc>
                <a:extLst>
                  <a:ext uri="{0D108BD9-81ED-4DB2-BD59-A6C34878D82A}">
                    <a16:rowId xmlns:a16="http://schemas.microsoft.com/office/drawing/2014/main" val="10000"/>
                  </a:ext>
                </a:extLst>
              </a:tr>
              <a:tr h="365760">
                <a:tc>
                  <a:txBody>
                    <a:bodyPr/>
                    <a:lstStyle/>
                    <a:p>
                      <a:pPr marL="0" indent="0">
                        <a:buNone/>
                      </a:pPr>
                      <a:r>
                        <a:rPr lang="en-US" sz="800" dirty="0">
                          <a:solidFill>
                            <a:srgbClr val="14213D"/>
                          </a:solidFill>
                        </a:rPr>
                        <a:t>언어 수</a:t>
                      </a:r>
                      <a:endParaRPr lang="en-US" sz="8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lstStyle/>
                    <a:p>
                      <a:pPr marL="0" indent="0">
                        <a:buNone/>
                      </a:pPr>
                      <a:r>
                        <a:rPr lang="en-US" sz="800" dirty="0">
                          <a:solidFill>
                            <a:srgbClr val="14213D"/>
                          </a:solidFill>
                        </a:rPr>
                        <a:t>28개</a:t>
                      </a:r>
                      <a:endParaRPr lang="en-US" sz="8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lstStyle/>
                    <a:p>
                      <a:pPr marL="0" indent="0">
                        <a:buNone/>
                      </a:pPr>
                      <a:r>
                        <a:rPr lang="en-US" sz="800" dirty="0">
                          <a:solidFill>
                            <a:srgbClr val="14213D"/>
                          </a:solidFill>
                        </a:rPr>
                        <a:t>30개</a:t>
                      </a:r>
                      <a:endParaRPr lang="en-US" sz="8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lstStyle/>
                    <a:p>
                      <a:pPr marL="0" indent="0">
                        <a:buNone/>
                      </a:pPr>
                      <a:r>
                        <a:rPr lang="en-US" sz="800" dirty="0">
                          <a:solidFill>
                            <a:srgbClr val="14213D"/>
                          </a:solidFill>
                        </a:rPr>
                        <a:t>200개+</a:t>
                      </a:r>
                      <a:endParaRPr lang="en-US" sz="8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548640">
                <a:tc>
                  <a:txBody>
                    <a:bodyPr/>
                    <a:lstStyle/>
                    <a:p>
                      <a:pPr marL="0" indent="0">
                        <a:buNone/>
                      </a:pPr>
                      <a:r>
                        <a:rPr lang="en-US" sz="800" dirty="0">
                          <a:solidFill>
                            <a:srgbClr val="14213D"/>
                          </a:solidFill>
                        </a:rPr>
                        <a:t>기능</a:t>
                      </a:r>
                      <a:endParaRPr lang="en-US" sz="8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lstStyle/>
                    <a:p>
                      <a:pPr marL="0" indent="0">
                        <a:buNone/>
                      </a:pPr>
                      <a:r>
                        <a:rPr lang="en-US" sz="800" dirty="0">
                          <a:solidFill>
                            <a:srgbClr val="14213D"/>
                          </a:solidFill>
                        </a:rPr>
                        <a:t>다국어 채용정보 제공, 커뮤니티</a:t>
                      </a:r>
                      <a:endParaRPr lang="en-US" sz="8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lstStyle/>
                    <a:p>
                      <a:pPr marL="0" indent="0">
                        <a:buNone/>
                      </a:pPr>
                      <a:r>
                        <a:rPr lang="en-US" sz="800" dirty="0">
                          <a:solidFill>
                            <a:srgbClr val="14213D"/>
                          </a:solidFill>
                        </a:rPr>
                        <a:t>번역·외국인 인증, 필터</a:t>
                      </a:r>
                      <a:endParaRPr lang="en-US" sz="8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lstStyle/>
                    <a:p>
                      <a:pPr marL="0" indent="0">
                        <a:buNone/>
                      </a:pPr>
                      <a:r>
                        <a:rPr lang="en-US" sz="800" dirty="0">
                          <a:solidFill>
                            <a:srgbClr val="14213D"/>
                          </a:solidFill>
                        </a:rPr>
                        <a:t>AI 매칭, 큐레이션, e-월렛</a:t>
                      </a:r>
                      <a:endParaRPr lang="en-US" sz="8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48640">
                <a:tc>
                  <a:txBody>
                    <a:bodyPr/>
                    <a:lstStyle/>
                    <a:p>
                      <a:pPr marL="0" indent="0">
                        <a:buNone/>
                      </a:pPr>
                      <a:r>
                        <a:rPr lang="en-US" sz="800" dirty="0">
                          <a:solidFill>
                            <a:srgbClr val="14213D"/>
                          </a:solidFill>
                        </a:rPr>
                        <a:t>차별점</a:t>
                      </a:r>
                      <a:endParaRPr lang="en-US" sz="8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lstStyle/>
                    <a:p>
                      <a:pPr marL="0" indent="0">
                        <a:buNone/>
                      </a:pPr>
                      <a:r>
                        <a:rPr lang="en-US" sz="800" dirty="0">
                          <a:solidFill>
                            <a:srgbClr val="14213D"/>
                          </a:solidFill>
                        </a:rPr>
                        <a:t>초기 진입·전문분야 제한</a:t>
                      </a:r>
                      <a:endParaRPr lang="en-US" sz="8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lstStyle/>
                    <a:p>
                      <a:pPr marL="0" indent="0">
                        <a:buNone/>
                      </a:pPr>
                      <a:r>
                        <a:rPr lang="en-US" sz="800" dirty="0">
                          <a:solidFill>
                            <a:srgbClr val="14213D"/>
                          </a:solidFill>
                        </a:rPr>
                        <a:t>언어·비자 필터 제공</a:t>
                      </a:r>
                      <a:endParaRPr lang="en-US" sz="8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lstStyle/>
                    <a:p>
                      <a:pPr marL="0" indent="0">
                        <a:buNone/>
                      </a:pPr>
                      <a:r>
                        <a:rPr lang="en-US" sz="800" dirty="0">
                          <a:solidFill>
                            <a:srgbClr val="14213D"/>
                          </a:solidFill>
                        </a:rPr>
                        <a:t>NLLB 번역·AI 매칭·API 제공</a:t>
                      </a:r>
                      <a:endParaRPr lang="en-US" sz="8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bl>
          </a:graphicData>
        </a:graphic>
      </p:graphicFrame>
      <p:pic>
        <p:nvPicPr>
          <p:cNvPr id="7" name="Image 1" descr="preencoded.png">
            <a:extLst>
              <a:ext uri="{FF2B5EF4-FFF2-40B4-BE49-F238E27FC236}">
                <a16:creationId xmlns:a16="http://schemas.microsoft.com/office/drawing/2014/main" id="{8895ED13-A1BB-9E6F-0FA1-904A156629E8}"/>
              </a:ext>
            </a:extLst>
          </p:cNvPr>
          <p:cNvPicPr>
            <a:picLocks noChangeAspect="1"/>
          </p:cNvPicPr>
          <p:nvPr/>
        </p:nvPicPr>
        <p:blipFill>
          <a:blip r:embed="rId6"/>
          <a:stretch>
            <a:fillRect/>
          </a:stretch>
        </p:blipFill>
        <p:spPr>
          <a:xfrm>
            <a:off x="434340" y="2034540"/>
            <a:ext cx="320040" cy="320040"/>
          </a:xfrm>
          <a:prstGeom prst="rect">
            <a:avLst/>
          </a:prstGeom>
        </p:spPr>
      </p:pic>
    </p:spTree>
    <p:extLst>
      <p:ext uri="{BB962C8B-B14F-4D97-AF65-F5344CB8AC3E}">
        <p14:creationId xmlns:p14="http://schemas.microsoft.com/office/powerpoint/2010/main" val="714429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14213D"/>
                </a:solidFill>
              </a:rPr>
              <a:t>글로벌 벤치마크</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2907370099"/>
              </p:ext>
            </p:extLst>
          </p:nvPr>
        </p:nvGraphicFramePr>
        <p:xfrm>
          <a:off x="457200" y="1005840"/>
          <a:ext cx="8229600" cy="2651760"/>
        </p:xfrm>
        <a:graphic>
          <a:graphicData uri="http://schemas.openxmlformats.org/drawingml/2006/table">
            <a:tbl>
              <a:tblPr/>
              <a:tblGrid>
                <a:gridCol w="1828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65760">
                <a:tc>
                  <a:txBody>
                    <a:bodyPr/>
                    <a:lstStyle/>
                    <a:p>
                      <a:pPr marL="0" indent="0" algn="ctr">
                        <a:buNone/>
                      </a:pPr>
                      <a:r>
                        <a:rPr lang="en-US" sz="900" b="1" dirty="0">
                          <a:solidFill>
                            <a:srgbClr val="F5F5F5"/>
                          </a:solidFill>
                        </a:rPr>
                        <a:t>플랫폼</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4213D"/>
                    </a:solidFill>
                  </a:tcPr>
                </a:tc>
                <a:tc>
                  <a:txBody>
                    <a:bodyPr/>
                    <a:lstStyle/>
                    <a:p>
                      <a:pPr marL="0" indent="0" algn="ctr">
                        <a:buNone/>
                      </a:pPr>
                      <a:r>
                        <a:rPr lang="en-US" sz="900" b="1" dirty="0">
                          <a:solidFill>
                            <a:srgbClr val="F5F5F5"/>
                          </a:solidFill>
                        </a:rPr>
                        <a:t>특징</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07C91"/>
                    </a:solidFill>
                  </a:tcPr>
                </a:tc>
                <a:tc>
                  <a:txBody>
                    <a:bodyPr/>
                    <a:lstStyle/>
                    <a:p>
                      <a:pPr marL="0" indent="0" algn="ctr">
                        <a:buNone/>
                      </a:pPr>
                      <a:r>
                        <a:rPr lang="en-US" sz="900" b="1" dirty="0">
                          <a:solidFill>
                            <a:srgbClr val="F5F5F5"/>
                          </a:solidFill>
                        </a:rPr>
                        <a:t>지표</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07C91"/>
                    </a:solidFill>
                  </a:tcPr>
                </a:tc>
                <a:extLst>
                  <a:ext uri="{0D108BD9-81ED-4DB2-BD59-A6C34878D82A}">
                    <a16:rowId xmlns:a16="http://schemas.microsoft.com/office/drawing/2014/main" val="10000"/>
                  </a:ext>
                </a:extLst>
              </a:tr>
              <a:tr h="457200">
                <a:tc>
                  <a:txBody>
                    <a:bodyPr/>
                    <a:lstStyle/>
                    <a:p>
                      <a:pPr marL="0" indent="0">
                        <a:buNone/>
                      </a:pPr>
                      <a:r>
                        <a:rPr lang="en-US" sz="900" dirty="0">
                          <a:solidFill>
                            <a:srgbClr val="14213D"/>
                          </a:solidFill>
                        </a:rPr>
                        <a:t>LinkedIn</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900" dirty="0">
                          <a:solidFill>
                            <a:srgbClr val="14213D"/>
                          </a:solidFill>
                        </a:rPr>
                        <a:t>72%의 리크루터가 이용, 전문 인재 풀과 “Easy Apply” 제공</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900" dirty="0">
                          <a:solidFill>
                            <a:srgbClr val="14213D"/>
                          </a:solidFill>
                        </a:rPr>
                        <a:t>고품질 </a:t>
                      </a:r>
                      <a:r>
                        <a:rPr lang="en-US" sz="900" dirty="0" err="1">
                          <a:solidFill>
                            <a:srgbClr val="14213D"/>
                          </a:solidFill>
                        </a:rPr>
                        <a:t>인재</a:t>
                      </a:r>
                      <a:r>
                        <a:rPr lang="en-US" sz="900" dirty="0">
                          <a:solidFill>
                            <a:srgbClr val="14213D"/>
                          </a:solidFill>
                        </a:rPr>
                        <a:t> </a:t>
                      </a:r>
                      <a:r>
                        <a:rPr lang="en-US" sz="900" dirty="0" err="1">
                          <a:solidFill>
                            <a:srgbClr val="14213D"/>
                          </a:solidFill>
                        </a:rPr>
                        <a:t>접근성</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900" dirty="0">
                          <a:solidFill>
                            <a:srgbClr val="14213D"/>
                          </a:solidFill>
                        </a:rPr>
                        <a:t>Indeed</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900" dirty="0">
                          <a:solidFill>
                            <a:srgbClr val="14213D"/>
                          </a:solidFill>
                        </a:rPr>
                        <a:t>604.5M 월간 방문자, 무료 게시 + 스폰서 옵션</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900" dirty="0" err="1">
                          <a:solidFill>
                            <a:srgbClr val="14213D"/>
                          </a:solidFill>
                        </a:rPr>
                        <a:t>방대한</a:t>
                      </a:r>
                      <a:r>
                        <a:rPr lang="en-US" sz="900" dirty="0">
                          <a:solidFill>
                            <a:srgbClr val="14213D"/>
                          </a:solidFill>
                        </a:rPr>
                        <a:t> </a:t>
                      </a:r>
                      <a:r>
                        <a:rPr lang="en-US" sz="900" dirty="0" err="1">
                          <a:solidFill>
                            <a:srgbClr val="14213D"/>
                          </a:solidFill>
                        </a:rPr>
                        <a:t>후보풀</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900" dirty="0">
                          <a:solidFill>
                            <a:srgbClr val="14213D"/>
                          </a:solidFill>
                        </a:rPr>
                        <a:t>ZipRecruiter</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900" dirty="0">
                          <a:solidFill>
                            <a:srgbClr val="14213D"/>
                          </a:solidFill>
                        </a:rPr>
                        <a:t>AI 매칭·100+ 사이트 동시 배포, 비용 약 $16/일</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900" dirty="0">
                          <a:solidFill>
                            <a:srgbClr val="14213D"/>
                          </a:solidFill>
                        </a:rPr>
                        <a:t>AI </a:t>
                      </a:r>
                      <a:r>
                        <a:rPr lang="en-US" sz="900" dirty="0" err="1">
                          <a:solidFill>
                            <a:srgbClr val="14213D"/>
                          </a:solidFill>
                        </a:rPr>
                        <a:t>매칭</a:t>
                      </a:r>
                      <a:r>
                        <a:rPr lang="en-US" sz="900" dirty="0">
                          <a:solidFill>
                            <a:srgbClr val="14213D"/>
                          </a:solidFill>
                        </a:rPr>
                        <a:t> </a:t>
                      </a:r>
                      <a:r>
                        <a:rPr lang="en-US" sz="900" dirty="0" err="1">
                          <a:solidFill>
                            <a:srgbClr val="14213D"/>
                          </a:solidFill>
                        </a:rPr>
                        <a:t>강점</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900" dirty="0">
                          <a:solidFill>
                            <a:srgbClr val="14213D"/>
                          </a:solidFill>
                        </a:rPr>
                        <a:t>Glassdoor</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900" dirty="0">
                          <a:solidFill>
                            <a:srgbClr val="14213D"/>
                          </a:solidFill>
                        </a:rPr>
                        <a:t>직원 리뷰·연봉·인터뷰 정보 제공</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900" dirty="0" err="1">
                          <a:solidFill>
                            <a:srgbClr val="14213D"/>
                          </a:solidFill>
                        </a:rPr>
                        <a:t>문화·보상</a:t>
                      </a:r>
                      <a:r>
                        <a:rPr lang="en-US" sz="900" dirty="0">
                          <a:solidFill>
                            <a:srgbClr val="14213D"/>
                          </a:solidFill>
                        </a:rPr>
                        <a:t> </a:t>
                      </a:r>
                      <a:r>
                        <a:rPr lang="en-US" sz="900" dirty="0" err="1">
                          <a:solidFill>
                            <a:srgbClr val="14213D"/>
                          </a:solidFill>
                        </a:rPr>
                        <a:t>투명성</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900" dirty="0">
                          <a:solidFill>
                            <a:srgbClr val="14213D"/>
                          </a:solidFill>
                        </a:rPr>
                        <a:t>MokaHR</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900" dirty="0">
                          <a:solidFill>
                            <a:srgbClr val="14213D"/>
                          </a:solidFill>
                        </a:rPr>
                        <a:t>AI 기반 ATS로 87% 정확도, 채용시간 63% 단축</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900" dirty="0">
                          <a:solidFill>
                            <a:srgbClr val="14213D"/>
                          </a:solidFill>
                        </a:rPr>
                        <a:t>3k+ </a:t>
                      </a:r>
                      <a:r>
                        <a:rPr lang="en-US" sz="900" dirty="0" err="1">
                          <a:solidFill>
                            <a:srgbClr val="14213D"/>
                          </a:solidFill>
                        </a:rPr>
                        <a:t>기업</a:t>
                      </a:r>
                      <a:r>
                        <a:rPr lang="en-US" sz="900" dirty="0">
                          <a:solidFill>
                            <a:srgbClr val="14213D"/>
                          </a:solidFill>
                        </a:rPr>
                        <a:t> </a:t>
                      </a:r>
                      <a:r>
                        <a:rPr lang="en-US" sz="900" dirty="0" err="1">
                          <a:solidFill>
                            <a:srgbClr val="14213D"/>
                          </a:solidFill>
                        </a:rPr>
                        <a:t>신뢰</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457200" y="3794760"/>
            <a:ext cx="8229600" cy="914400"/>
          </a:xfrm>
          <a:prstGeom prst="rect">
            <a:avLst/>
          </a:prstGeom>
          <a:noFill/>
          <a:ln/>
        </p:spPr>
        <p:txBody>
          <a:bodyPr wrap="square" rtlCol="0" anchor="ctr"/>
          <a:lstStyle/>
          <a:p>
            <a:pPr marL="0" indent="0">
              <a:buNone/>
            </a:pPr>
            <a:r>
              <a:rPr lang="en-US" sz="1200" b="1" dirty="0">
                <a:solidFill>
                  <a:srgbClr val="14213D"/>
                </a:solidFill>
              </a:rPr>
              <a:t>글로벌 서비스의 강점
</a:t>
            </a:r>
            <a:r>
              <a:rPr lang="en-US" sz="900" dirty="0">
                <a:solidFill>
                  <a:srgbClr val="14213D"/>
                </a:solidFill>
              </a:rPr>
              <a:t>LinkedIn은 전문 네트워크를 통해 수동 지원자를 발굴하고, Indeed는 대규모 노출을 제공합니다. ZipRecruiter는 AI 기반 추천을 통해 공고 확산을 자동화하며, Glassdoor는 투명성을 확보합니다. MokaHR는 ATS와 AI 매칭을 결합해 시간과 정확도 모두를 개선합니다.</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14213D"/>
                </a:solidFill>
              </a:rPr>
              <a:t>국내 벤치마크</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373662703"/>
              </p:ext>
            </p:extLst>
          </p:nvPr>
        </p:nvGraphicFramePr>
        <p:xfrm>
          <a:off x="457200" y="1005840"/>
          <a:ext cx="8229600" cy="2011680"/>
        </p:xfrm>
        <a:graphic>
          <a:graphicData uri="http://schemas.openxmlformats.org/drawingml/2006/table">
            <a:tbl>
              <a:tblPr/>
              <a:tblGrid>
                <a:gridCol w="1828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365760">
                <a:tc>
                  <a:txBody>
                    <a:bodyPr/>
                    <a:lstStyle/>
                    <a:p>
                      <a:pPr marL="0" indent="0" algn="ctr">
                        <a:buNone/>
                      </a:pPr>
                      <a:r>
                        <a:rPr lang="en-US" sz="900" b="1" dirty="0">
                          <a:solidFill>
                            <a:srgbClr val="F5F5F5"/>
                          </a:solidFill>
                        </a:rPr>
                        <a:t>플랫폼</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4213D"/>
                    </a:solidFill>
                  </a:tcPr>
                </a:tc>
                <a:tc>
                  <a:txBody>
                    <a:bodyPr/>
                    <a:lstStyle/>
                    <a:p>
                      <a:pPr marL="0" indent="0" algn="ctr">
                        <a:buNone/>
                      </a:pPr>
                      <a:r>
                        <a:rPr lang="en-US" sz="900" b="1" dirty="0">
                          <a:solidFill>
                            <a:srgbClr val="F5F5F5"/>
                          </a:solidFill>
                        </a:rPr>
                        <a:t>지원 언어</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07C91"/>
                    </a:solidFill>
                  </a:tcPr>
                </a:tc>
                <a:tc>
                  <a:txBody>
                    <a:bodyPr/>
                    <a:lstStyle/>
                    <a:p>
                      <a:pPr marL="0" indent="0" algn="ctr">
                        <a:buNone/>
                      </a:pPr>
                      <a:r>
                        <a:rPr lang="en-US" sz="900" b="1" dirty="0">
                          <a:solidFill>
                            <a:srgbClr val="F5F5F5"/>
                          </a:solidFill>
                        </a:rPr>
                        <a:t>주요 기능</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07C91"/>
                    </a:solidFill>
                  </a:tcPr>
                </a:tc>
                <a:tc>
                  <a:txBody>
                    <a:bodyPr/>
                    <a:lstStyle/>
                    <a:p>
                      <a:pPr marL="0" indent="0" algn="ctr">
                        <a:buNone/>
                      </a:pPr>
                      <a:r>
                        <a:rPr lang="en-US" sz="900" b="1" dirty="0">
                          <a:solidFill>
                            <a:srgbClr val="F5F5F5"/>
                          </a:solidFill>
                        </a:rPr>
                        <a:t>특이점</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07C91"/>
                    </a:solidFill>
                  </a:tcPr>
                </a:tc>
                <a:extLst>
                  <a:ext uri="{0D108BD9-81ED-4DB2-BD59-A6C34878D82A}">
                    <a16:rowId xmlns:a16="http://schemas.microsoft.com/office/drawing/2014/main" val="10000"/>
                  </a:ext>
                </a:extLst>
              </a:tr>
              <a:tr h="548640">
                <a:tc>
                  <a:txBody>
                    <a:bodyPr/>
                    <a:lstStyle/>
                    <a:p>
                      <a:pPr marL="0" indent="0">
                        <a:buNone/>
                      </a:pPr>
                      <a:r>
                        <a:rPr lang="en-US" sz="900" dirty="0">
                          <a:solidFill>
                            <a:srgbClr val="14213D"/>
                          </a:solidFill>
                        </a:rPr>
                        <a:t>KLiK</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900" dirty="0">
                          <a:solidFill>
                            <a:srgbClr val="14213D"/>
                          </a:solidFill>
                        </a:rPr>
                        <a:t>28개</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900" dirty="0">
                          <a:solidFill>
                            <a:srgbClr val="14213D"/>
                          </a:solidFill>
                        </a:rPr>
                        <a:t>다국어 번역, 커뮤니티 라운지, 비자 스폰서 탭</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900" dirty="0">
                          <a:solidFill>
                            <a:srgbClr val="14213D"/>
                          </a:solidFill>
                        </a:rPr>
                        <a:t>게시물 6.1k+, 7월 론칭 후 </a:t>
                      </a:r>
                      <a:r>
                        <a:rPr lang="en-US" sz="900" dirty="0" err="1">
                          <a:solidFill>
                            <a:srgbClr val="14213D"/>
                          </a:solidFill>
                        </a:rPr>
                        <a:t>빠른</a:t>
                      </a:r>
                      <a:r>
                        <a:rPr lang="en-US" sz="900" dirty="0">
                          <a:solidFill>
                            <a:srgbClr val="14213D"/>
                          </a:solidFill>
                        </a:rPr>
                        <a:t> </a:t>
                      </a:r>
                      <a:r>
                        <a:rPr lang="en-US" sz="900" dirty="0" err="1">
                          <a:solidFill>
                            <a:srgbClr val="14213D"/>
                          </a:solidFill>
                        </a:rPr>
                        <a:t>성장</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900" dirty="0">
                          <a:solidFill>
                            <a:srgbClr val="14213D"/>
                          </a:solidFill>
                        </a:rPr>
                        <a:t>KoMate</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900" dirty="0">
                          <a:solidFill>
                            <a:srgbClr val="14213D"/>
                          </a:solidFill>
                        </a:rPr>
                        <a:t>30개</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900" dirty="0">
                          <a:solidFill>
                            <a:srgbClr val="14213D"/>
                          </a:solidFill>
                        </a:rPr>
                        <a:t>30개 언어 번역, 외국인 인증 배지, 언어·학력·경력·비자 필터</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900" dirty="0">
                          <a:solidFill>
                            <a:srgbClr val="14213D"/>
                          </a:solidFill>
                        </a:rPr>
                        <a:t>안정성 강조, 11월 </a:t>
                      </a:r>
                      <a:r>
                        <a:rPr lang="en-US" sz="900" dirty="0" err="1">
                          <a:solidFill>
                            <a:srgbClr val="14213D"/>
                          </a:solidFill>
                        </a:rPr>
                        <a:t>출시</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900" dirty="0">
                          <a:solidFill>
                            <a:srgbClr val="14213D"/>
                          </a:solidFill>
                        </a:rPr>
                        <a:t>우리 플랫폼</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900" dirty="0">
                          <a:solidFill>
                            <a:srgbClr val="14213D"/>
                          </a:solidFill>
                        </a:rPr>
                        <a:t>200+</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900" dirty="0">
                          <a:solidFill>
                            <a:srgbClr val="14213D"/>
                          </a:solidFill>
                        </a:rPr>
                        <a:t>AI 매칭, 번역 캐싱, 맞춤 큐레이션, e‑월렛 &amp; API</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900" dirty="0">
                          <a:solidFill>
                            <a:srgbClr val="14213D"/>
                          </a:solidFill>
                        </a:rPr>
                        <a:t>글로벌 스케일·지속가능 모델</a:t>
                      </a:r>
                      <a:endParaRPr lang="en-US" sz="900" dirty="0"/>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 1"/>
          <p:cNvSpPr/>
          <p:nvPr/>
        </p:nvSpPr>
        <p:spPr>
          <a:xfrm>
            <a:off x="457200" y="3657600"/>
            <a:ext cx="8229600" cy="1005840"/>
          </a:xfrm>
          <a:prstGeom prst="rect">
            <a:avLst/>
          </a:prstGeom>
          <a:noFill/>
          <a:ln/>
        </p:spPr>
        <p:txBody>
          <a:bodyPr wrap="square" rtlCol="0" anchor="ctr"/>
          <a:lstStyle/>
          <a:p>
            <a:pPr marL="0" indent="0">
              <a:buNone/>
            </a:pPr>
            <a:r>
              <a:rPr lang="en-US" sz="1200" b="1" dirty="0">
                <a:solidFill>
                  <a:srgbClr val="14213D"/>
                </a:solidFill>
              </a:rPr>
              <a:t>국내 서비스의 현황
</a:t>
            </a:r>
            <a:r>
              <a:rPr lang="en-US" sz="900" dirty="0">
                <a:solidFill>
                  <a:srgbClr val="14213D"/>
                </a:solidFill>
              </a:rPr>
              <a:t>KLiK과 KoMate는 다국어 지원을 시도하며 초기 시장 검증에 성공했습니다. 그러나 지원 언어는 30개 미만이며, 번역 정확도와 AI 매칭 기능은 제한적입니다. 우리의 플랫폼은 AI 기반 매칭과 200개 이상의 언어를 통해 차별화된 경쟁력을 갖춥니다.</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14213D"/>
                </a:solidFill>
              </a:rPr>
              <a:t>정량적 성능 지표</a:t>
            </a:r>
            <a:endParaRPr lang="en-US" sz="2400" dirty="0"/>
          </a:p>
        </p:txBody>
      </p:sp>
      <p:sp>
        <p:nvSpPr>
          <p:cNvPr id="3" name="Shape 1"/>
          <p:cNvSpPr/>
          <p:nvPr/>
        </p:nvSpPr>
        <p:spPr>
          <a:xfrm>
            <a:off x="457200" y="983578"/>
            <a:ext cx="4114800" cy="1463040"/>
          </a:xfrm>
          <a:prstGeom prst="roundRect">
            <a:avLst>
              <a:gd name="adj" fmla="val 3125"/>
            </a:avLst>
          </a:prstGeom>
          <a:solidFill>
            <a:srgbClr val="E5E5E5"/>
          </a:solidFill>
          <a:ln w="12700">
            <a:solidFill>
              <a:srgbClr val="007C91"/>
            </a:solidFill>
            <a:prstDash val="solid"/>
          </a:ln>
        </p:spPr>
        <p:txBody>
          <a:bodyPr/>
          <a:lstStyle/>
          <a:p>
            <a:endParaRPr/>
          </a:p>
        </p:txBody>
      </p:sp>
      <p:pic>
        <p:nvPicPr>
          <p:cNvPr id="4" name="Image 0" descr="preencoded.png"/>
          <p:cNvPicPr>
            <a:picLocks noChangeAspect="1"/>
          </p:cNvPicPr>
          <p:nvPr/>
        </p:nvPicPr>
        <p:blipFill>
          <a:blip r:embed="rId3"/>
          <a:stretch>
            <a:fillRect/>
          </a:stretch>
        </p:blipFill>
        <p:spPr>
          <a:xfrm>
            <a:off x="868680" y="1122653"/>
            <a:ext cx="365760" cy="365760"/>
          </a:xfrm>
          <a:prstGeom prst="rect">
            <a:avLst/>
          </a:prstGeom>
        </p:spPr>
      </p:pic>
      <p:sp>
        <p:nvSpPr>
          <p:cNvPr id="5" name="Text 2"/>
          <p:cNvSpPr/>
          <p:nvPr/>
        </p:nvSpPr>
        <p:spPr>
          <a:xfrm>
            <a:off x="1512829" y="1143000"/>
            <a:ext cx="2876291" cy="274320"/>
          </a:xfrm>
          <a:prstGeom prst="rect">
            <a:avLst/>
          </a:prstGeom>
          <a:noFill/>
          <a:ln/>
        </p:spPr>
        <p:txBody>
          <a:bodyPr wrap="square" rtlCol="0" anchor="ctr"/>
          <a:lstStyle/>
          <a:p>
            <a:pPr marL="0" indent="0">
              <a:buNone/>
            </a:pPr>
            <a:r>
              <a:rPr lang="en-US" sz="1200" b="1" dirty="0">
                <a:solidFill>
                  <a:srgbClr val="14213D"/>
                </a:solidFill>
              </a:rPr>
              <a:t>번역 품질 개선</a:t>
            </a:r>
            <a:endParaRPr lang="en-US" sz="1200" dirty="0"/>
          </a:p>
        </p:txBody>
      </p:sp>
      <p:sp>
        <p:nvSpPr>
          <p:cNvPr id="6" name="Text 3"/>
          <p:cNvSpPr/>
          <p:nvPr/>
        </p:nvSpPr>
        <p:spPr>
          <a:xfrm>
            <a:off x="520035" y="1428331"/>
            <a:ext cx="1254068" cy="400469"/>
          </a:xfrm>
          <a:prstGeom prst="rect">
            <a:avLst/>
          </a:prstGeom>
          <a:noFill/>
          <a:ln/>
        </p:spPr>
        <p:txBody>
          <a:bodyPr wrap="square" rtlCol="0" anchor="ctr"/>
          <a:lstStyle/>
          <a:p>
            <a:pPr marL="0" indent="0">
              <a:buNone/>
            </a:pPr>
            <a:endParaRPr lang="en-US" sz="2800" b="1" dirty="0">
              <a:solidFill>
                <a:srgbClr val="FCA311"/>
              </a:solidFill>
            </a:endParaRPr>
          </a:p>
          <a:p>
            <a:pPr marL="0" indent="0">
              <a:buNone/>
            </a:pPr>
            <a:r>
              <a:rPr lang="en-US" sz="2800" b="1" dirty="0">
                <a:solidFill>
                  <a:srgbClr val="FCA311"/>
                </a:solidFill>
              </a:rPr>
              <a:t>44%↑</a:t>
            </a:r>
            <a:endParaRPr lang="en-US" sz="2800" dirty="0"/>
          </a:p>
        </p:txBody>
      </p:sp>
      <p:sp>
        <p:nvSpPr>
          <p:cNvPr id="7" name="Text 4"/>
          <p:cNvSpPr/>
          <p:nvPr/>
        </p:nvSpPr>
        <p:spPr>
          <a:xfrm>
            <a:off x="1554480" y="1508760"/>
            <a:ext cx="3017520" cy="640080"/>
          </a:xfrm>
          <a:prstGeom prst="rect">
            <a:avLst/>
          </a:prstGeom>
          <a:noFill/>
          <a:ln/>
        </p:spPr>
        <p:txBody>
          <a:bodyPr wrap="square" rtlCol="0" anchor="ctr"/>
          <a:lstStyle/>
          <a:p>
            <a:pPr marL="171450" indent="-171450">
              <a:buFont typeface="Arial" panose="020B0604020202020204" pitchFamily="34" charset="0"/>
              <a:buChar char="•"/>
            </a:pPr>
            <a:r>
              <a:rPr lang="en-US" sz="900" dirty="0">
                <a:solidFill>
                  <a:srgbClr val="14213D"/>
                </a:solidFill>
              </a:rPr>
              <a:t>NLLB‑200를 통해 평균 44% 향상, 일부 언어는 70%+</a:t>
            </a:r>
          </a:p>
          <a:p>
            <a:pPr marL="171450" indent="-171450">
              <a:buFont typeface="Arial" panose="020B0604020202020204" pitchFamily="34" charset="0"/>
              <a:buChar char="•"/>
            </a:pPr>
            <a:endParaRPr lang="en-US" sz="900" dirty="0">
              <a:solidFill>
                <a:srgbClr val="14213D"/>
              </a:solidFill>
            </a:endParaRPr>
          </a:p>
          <a:p>
            <a:pPr marL="171450" indent="-171450">
              <a:buFont typeface="Arial" panose="020B0604020202020204" pitchFamily="34" charset="0"/>
              <a:buChar char="•"/>
            </a:pPr>
            <a:r>
              <a:rPr lang="ko-KR" altLang="en-US" sz="900" dirty="0"/>
              <a:t>서비스 출시 </a:t>
            </a:r>
            <a:r>
              <a:rPr lang="en-US" altLang="ko-KR" sz="900" dirty="0"/>
              <a:t>3</a:t>
            </a:r>
            <a:r>
              <a:rPr lang="ko-KR" altLang="en-US" sz="900" dirty="0"/>
              <a:t>년 내 구독자 </a:t>
            </a:r>
            <a:r>
              <a:rPr lang="en-US" altLang="ko-KR" sz="900" dirty="0"/>
              <a:t>10</a:t>
            </a:r>
            <a:r>
              <a:rPr lang="ko-KR" altLang="en-US" sz="900" dirty="0"/>
              <a:t>만 명</a:t>
            </a:r>
            <a:r>
              <a:rPr lang="en-US" altLang="ko-KR" sz="900" dirty="0"/>
              <a:t>, </a:t>
            </a:r>
            <a:r>
              <a:rPr lang="ko-KR" altLang="en-US" sz="900" dirty="0"/>
              <a:t>매출 </a:t>
            </a:r>
            <a:r>
              <a:rPr lang="en-US" altLang="ko-KR" sz="900" dirty="0"/>
              <a:t>50</a:t>
            </a:r>
            <a:r>
              <a:rPr lang="ko-KR" altLang="en-US" sz="900" dirty="0"/>
              <a:t>억 원 달성 목표</a:t>
            </a:r>
          </a:p>
          <a:p>
            <a:pPr marL="0" indent="0">
              <a:buNone/>
            </a:pPr>
            <a:endParaRPr lang="en-US" sz="900" dirty="0"/>
          </a:p>
        </p:txBody>
      </p:sp>
      <p:sp>
        <p:nvSpPr>
          <p:cNvPr id="8" name="Shape 5"/>
          <p:cNvSpPr/>
          <p:nvPr/>
        </p:nvSpPr>
        <p:spPr>
          <a:xfrm>
            <a:off x="4663440" y="1005840"/>
            <a:ext cx="4114800" cy="1463040"/>
          </a:xfrm>
          <a:prstGeom prst="roundRect">
            <a:avLst>
              <a:gd name="adj" fmla="val 3125"/>
            </a:avLst>
          </a:prstGeom>
          <a:solidFill>
            <a:srgbClr val="E5E5E5"/>
          </a:solidFill>
          <a:ln w="12700">
            <a:solidFill>
              <a:srgbClr val="007C91"/>
            </a:solidFill>
            <a:prstDash val="solid"/>
          </a:ln>
        </p:spPr>
        <p:txBody>
          <a:bodyPr/>
          <a:lstStyle/>
          <a:p>
            <a:endParaRPr/>
          </a:p>
        </p:txBody>
      </p:sp>
      <p:pic>
        <p:nvPicPr>
          <p:cNvPr id="9" name="Image 1" descr="preencoded.png"/>
          <p:cNvPicPr>
            <a:picLocks noChangeAspect="1"/>
          </p:cNvPicPr>
          <p:nvPr/>
        </p:nvPicPr>
        <p:blipFill>
          <a:blip r:embed="rId4"/>
          <a:stretch>
            <a:fillRect/>
          </a:stretch>
        </p:blipFill>
        <p:spPr>
          <a:xfrm>
            <a:off x="5029200" y="1161535"/>
            <a:ext cx="365760" cy="365760"/>
          </a:xfrm>
          <a:prstGeom prst="rect">
            <a:avLst/>
          </a:prstGeom>
        </p:spPr>
      </p:pic>
      <p:sp>
        <p:nvSpPr>
          <p:cNvPr id="10" name="Text 6"/>
          <p:cNvSpPr/>
          <p:nvPr/>
        </p:nvSpPr>
        <p:spPr>
          <a:xfrm>
            <a:off x="5760720" y="1143000"/>
            <a:ext cx="2834640" cy="274320"/>
          </a:xfrm>
          <a:prstGeom prst="rect">
            <a:avLst/>
          </a:prstGeom>
          <a:noFill/>
          <a:ln/>
        </p:spPr>
        <p:txBody>
          <a:bodyPr wrap="square" rtlCol="0" anchor="ctr"/>
          <a:lstStyle/>
          <a:p>
            <a:pPr marL="0" indent="0">
              <a:buNone/>
            </a:pPr>
            <a:r>
              <a:rPr lang="en-US" sz="1200" b="1" dirty="0">
                <a:solidFill>
                  <a:srgbClr val="14213D"/>
                </a:solidFill>
              </a:rPr>
              <a:t>매칭 정확도</a:t>
            </a:r>
            <a:endParaRPr lang="en-US" sz="1200" dirty="0"/>
          </a:p>
        </p:txBody>
      </p:sp>
      <p:sp>
        <p:nvSpPr>
          <p:cNvPr id="11" name="Text 7"/>
          <p:cNvSpPr/>
          <p:nvPr/>
        </p:nvSpPr>
        <p:spPr>
          <a:xfrm>
            <a:off x="4800600" y="1664455"/>
            <a:ext cx="914400" cy="457200"/>
          </a:xfrm>
          <a:prstGeom prst="rect">
            <a:avLst/>
          </a:prstGeom>
          <a:noFill/>
          <a:ln/>
        </p:spPr>
        <p:txBody>
          <a:bodyPr wrap="square" rtlCol="0" anchor="ctr"/>
          <a:lstStyle/>
          <a:p>
            <a:pPr marL="0" indent="0">
              <a:buNone/>
            </a:pPr>
            <a:r>
              <a:rPr lang="en-US" sz="2800" b="1" dirty="0">
                <a:solidFill>
                  <a:srgbClr val="FCA311"/>
                </a:solidFill>
              </a:rPr>
              <a:t>87%</a:t>
            </a:r>
            <a:endParaRPr lang="en-US" sz="2800" dirty="0"/>
          </a:p>
        </p:txBody>
      </p:sp>
      <p:sp>
        <p:nvSpPr>
          <p:cNvPr id="12" name="Text 8"/>
          <p:cNvSpPr/>
          <p:nvPr/>
        </p:nvSpPr>
        <p:spPr>
          <a:xfrm>
            <a:off x="5760720" y="1508760"/>
            <a:ext cx="3017520" cy="640080"/>
          </a:xfrm>
          <a:prstGeom prst="rect">
            <a:avLst/>
          </a:prstGeom>
          <a:noFill/>
          <a:ln/>
        </p:spPr>
        <p:txBody>
          <a:bodyPr wrap="square" rtlCol="0" anchor="ctr"/>
          <a:lstStyle/>
          <a:p>
            <a:pPr>
              <a:defRPr sz="1600"/>
            </a:pPr>
            <a:endParaRPr lang="en-US" altLang="ko-KR" sz="900" dirty="0"/>
          </a:p>
          <a:p>
            <a:pPr marL="171450" indent="-171450">
              <a:buFont typeface="Arial" panose="020B0604020202020204" pitchFamily="34" charset="0"/>
              <a:buChar char="•"/>
            </a:pPr>
            <a:r>
              <a:rPr lang="en-US" altLang="ko-KR" sz="900" dirty="0"/>
              <a:t>AI </a:t>
            </a:r>
            <a:r>
              <a:rPr lang="ko-KR" altLang="en-US" sz="900" dirty="0"/>
              <a:t>매칭 정확도 </a:t>
            </a:r>
            <a:r>
              <a:rPr lang="en-US" altLang="ko-KR" sz="900" dirty="0"/>
              <a:t>87% </a:t>
            </a:r>
            <a:r>
              <a:rPr lang="ko-KR" altLang="en-US" sz="900" dirty="0"/>
              <a:t>이상 달성</a:t>
            </a:r>
            <a:r>
              <a:rPr lang="en-US" altLang="ko-KR" sz="900" dirty="0"/>
              <a:t>, </a:t>
            </a:r>
            <a:r>
              <a:rPr lang="ko-KR" altLang="en-US" sz="900" dirty="0"/>
              <a:t>채용 소요 시간 </a:t>
            </a:r>
            <a:r>
              <a:rPr lang="en-US" altLang="ko-KR" sz="900" dirty="0"/>
              <a:t>30% </a:t>
            </a:r>
            <a:r>
              <a:rPr lang="ko-KR" altLang="en-US" sz="900" dirty="0"/>
              <a:t>이상 단축</a:t>
            </a:r>
            <a:endParaRPr lang="en-US" altLang="ko-KR" sz="900" dirty="0"/>
          </a:p>
          <a:p>
            <a:pPr marL="171450" indent="-171450">
              <a:buFont typeface="Arial" panose="020B0604020202020204" pitchFamily="34" charset="0"/>
              <a:buChar char="•"/>
            </a:pPr>
            <a:endParaRPr lang="en-US" sz="900" dirty="0">
              <a:solidFill>
                <a:srgbClr val="14213D"/>
              </a:solidFill>
            </a:endParaRPr>
          </a:p>
          <a:p>
            <a:pPr marL="171450" indent="-171450">
              <a:buFont typeface="Arial" panose="020B0604020202020204" pitchFamily="34" charset="0"/>
              <a:buChar char="•"/>
            </a:pPr>
            <a:r>
              <a:rPr lang="ko-KR" altLang="en-US" sz="900" dirty="0"/>
              <a:t>연간 </a:t>
            </a:r>
            <a:r>
              <a:rPr lang="en-US" altLang="ko-KR" sz="900" dirty="0"/>
              <a:t>5</a:t>
            </a:r>
            <a:r>
              <a:rPr lang="ko-KR" altLang="en-US" sz="900" dirty="0"/>
              <a:t>만 명 이상의 외국인 구직자에게 적합한 일자리 매칭 제공</a:t>
            </a:r>
            <a:endParaRPr lang="en-US" sz="900" dirty="0"/>
          </a:p>
        </p:txBody>
      </p:sp>
      <p:sp>
        <p:nvSpPr>
          <p:cNvPr id="13" name="Shape 9"/>
          <p:cNvSpPr/>
          <p:nvPr/>
        </p:nvSpPr>
        <p:spPr>
          <a:xfrm>
            <a:off x="457200" y="2743200"/>
            <a:ext cx="4114800" cy="1463040"/>
          </a:xfrm>
          <a:prstGeom prst="roundRect">
            <a:avLst>
              <a:gd name="adj" fmla="val 3125"/>
            </a:avLst>
          </a:prstGeom>
          <a:solidFill>
            <a:srgbClr val="E5E5E5"/>
          </a:solidFill>
          <a:ln w="12700">
            <a:solidFill>
              <a:srgbClr val="007C91"/>
            </a:solidFill>
            <a:prstDash val="solid"/>
          </a:ln>
        </p:spPr>
        <p:txBody>
          <a:bodyPr/>
          <a:lstStyle/>
          <a:p>
            <a:endParaRPr/>
          </a:p>
        </p:txBody>
      </p:sp>
      <p:pic>
        <p:nvPicPr>
          <p:cNvPr id="14" name="Image 2" descr="preencoded.png"/>
          <p:cNvPicPr>
            <a:picLocks noChangeAspect="1"/>
          </p:cNvPicPr>
          <p:nvPr/>
        </p:nvPicPr>
        <p:blipFill>
          <a:blip r:embed="rId5"/>
          <a:stretch>
            <a:fillRect/>
          </a:stretch>
        </p:blipFill>
        <p:spPr>
          <a:xfrm>
            <a:off x="937260" y="2903818"/>
            <a:ext cx="365760" cy="365760"/>
          </a:xfrm>
          <a:prstGeom prst="rect">
            <a:avLst/>
          </a:prstGeom>
        </p:spPr>
      </p:pic>
      <p:sp>
        <p:nvSpPr>
          <p:cNvPr id="15" name="Text 10"/>
          <p:cNvSpPr/>
          <p:nvPr/>
        </p:nvSpPr>
        <p:spPr>
          <a:xfrm>
            <a:off x="1554480" y="2880360"/>
            <a:ext cx="2834640" cy="274320"/>
          </a:xfrm>
          <a:prstGeom prst="rect">
            <a:avLst/>
          </a:prstGeom>
          <a:noFill/>
          <a:ln/>
        </p:spPr>
        <p:txBody>
          <a:bodyPr wrap="square" rtlCol="0" anchor="ctr"/>
          <a:lstStyle/>
          <a:p>
            <a:pPr marL="0" indent="0">
              <a:buNone/>
            </a:pPr>
            <a:r>
              <a:rPr lang="en-US" sz="1200" b="1" dirty="0">
                <a:solidFill>
                  <a:srgbClr val="14213D"/>
                </a:solidFill>
              </a:rPr>
              <a:t>지원 언어 수</a:t>
            </a:r>
            <a:endParaRPr lang="en-US" sz="1200" dirty="0"/>
          </a:p>
        </p:txBody>
      </p:sp>
      <p:sp>
        <p:nvSpPr>
          <p:cNvPr id="16" name="Text 11"/>
          <p:cNvSpPr/>
          <p:nvPr/>
        </p:nvSpPr>
        <p:spPr>
          <a:xfrm>
            <a:off x="603217" y="3451860"/>
            <a:ext cx="1287819" cy="457200"/>
          </a:xfrm>
          <a:prstGeom prst="rect">
            <a:avLst/>
          </a:prstGeom>
          <a:noFill/>
          <a:ln/>
        </p:spPr>
        <p:txBody>
          <a:bodyPr wrap="square" rtlCol="0" anchor="ctr"/>
          <a:lstStyle/>
          <a:p>
            <a:pPr marL="0" indent="0">
              <a:buNone/>
            </a:pPr>
            <a:r>
              <a:rPr lang="en-US" sz="2800" b="1" dirty="0">
                <a:solidFill>
                  <a:srgbClr val="FCA311"/>
                </a:solidFill>
              </a:rPr>
              <a:t>200개</a:t>
            </a:r>
            <a:endParaRPr lang="en-US" sz="2800" dirty="0"/>
          </a:p>
        </p:txBody>
      </p:sp>
      <p:sp>
        <p:nvSpPr>
          <p:cNvPr id="17" name="Text 12"/>
          <p:cNvSpPr/>
          <p:nvPr/>
        </p:nvSpPr>
        <p:spPr>
          <a:xfrm>
            <a:off x="1554480" y="3246120"/>
            <a:ext cx="3017520" cy="640080"/>
          </a:xfrm>
          <a:prstGeom prst="rect">
            <a:avLst/>
          </a:prstGeom>
          <a:noFill/>
          <a:ln/>
        </p:spPr>
        <p:txBody>
          <a:bodyPr wrap="square" rtlCol="0" anchor="ctr"/>
          <a:lstStyle/>
          <a:p>
            <a:pPr marL="171450" indent="-171450">
              <a:buFont typeface="Arial" panose="020B0604020202020204" pitchFamily="34" charset="0"/>
              <a:buChar char="•"/>
            </a:pPr>
            <a:r>
              <a:rPr lang="en-US" sz="900" dirty="0">
                <a:solidFill>
                  <a:srgbClr val="14213D"/>
                </a:solidFill>
              </a:rPr>
              <a:t>NLLB‑200 기반, 기존 서비스 대비 6~7배 이상</a:t>
            </a:r>
            <a:endParaRPr lang="en-US" sz="900" dirty="0"/>
          </a:p>
        </p:txBody>
      </p:sp>
      <p:sp>
        <p:nvSpPr>
          <p:cNvPr id="18" name="Shape 13"/>
          <p:cNvSpPr/>
          <p:nvPr/>
        </p:nvSpPr>
        <p:spPr>
          <a:xfrm>
            <a:off x="4663440" y="2743200"/>
            <a:ext cx="4114800" cy="1463040"/>
          </a:xfrm>
          <a:prstGeom prst="roundRect">
            <a:avLst>
              <a:gd name="adj" fmla="val 3125"/>
            </a:avLst>
          </a:prstGeom>
          <a:solidFill>
            <a:srgbClr val="E5E5E5"/>
          </a:solidFill>
          <a:ln w="12700">
            <a:solidFill>
              <a:srgbClr val="007C91"/>
            </a:solidFill>
            <a:prstDash val="solid"/>
          </a:ln>
        </p:spPr>
        <p:txBody>
          <a:bodyPr/>
          <a:lstStyle/>
          <a:p>
            <a:endParaRPr/>
          </a:p>
        </p:txBody>
      </p:sp>
      <p:pic>
        <p:nvPicPr>
          <p:cNvPr id="19" name="Image 3" descr="preencoded.png"/>
          <p:cNvPicPr>
            <a:picLocks noChangeAspect="1"/>
          </p:cNvPicPr>
          <p:nvPr/>
        </p:nvPicPr>
        <p:blipFill>
          <a:blip r:embed="rId6"/>
          <a:stretch>
            <a:fillRect/>
          </a:stretch>
        </p:blipFill>
        <p:spPr>
          <a:xfrm>
            <a:off x="5031235" y="2926080"/>
            <a:ext cx="365760" cy="365760"/>
          </a:xfrm>
          <a:prstGeom prst="rect">
            <a:avLst/>
          </a:prstGeom>
        </p:spPr>
      </p:pic>
      <p:sp>
        <p:nvSpPr>
          <p:cNvPr id="20" name="Text 14"/>
          <p:cNvSpPr/>
          <p:nvPr/>
        </p:nvSpPr>
        <p:spPr>
          <a:xfrm>
            <a:off x="5760720" y="2880360"/>
            <a:ext cx="2834640" cy="274320"/>
          </a:xfrm>
          <a:prstGeom prst="rect">
            <a:avLst/>
          </a:prstGeom>
          <a:noFill/>
          <a:ln/>
        </p:spPr>
        <p:txBody>
          <a:bodyPr wrap="square" rtlCol="0" anchor="ctr"/>
          <a:lstStyle/>
          <a:p>
            <a:pPr marL="0" indent="0">
              <a:buNone/>
            </a:pPr>
            <a:r>
              <a:rPr lang="en-US" sz="1200" b="1" dirty="0">
                <a:solidFill>
                  <a:srgbClr val="14213D"/>
                </a:solidFill>
              </a:rPr>
              <a:t>채용 속도 단축</a:t>
            </a:r>
            <a:endParaRPr lang="en-US" sz="1200" dirty="0"/>
          </a:p>
        </p:txBody>
      </p:sp>
      <p:sp>
        <p:nvSpPr>
          <p:cNvPr id="21" name="Text 15"/>
          <p:cNvSpPr/>
          <p:nvPr/>
        </p:nvSpPr>
        <p:spPr>
          <a:xfrm>
            <a:off x="4709160" y="3447535"/>
            <a:ext cx="1390032" cy="457200"/>
          </a:xfrm>
          <a:prstGeom prst="rect">
            <a:avLst/>
          </a:prstGeom>
          <a:noFill/>
          <a:ln/>
        </p:spPr>
        <p:txBody>
          <a:bodyPr wrap="square" rtlCol="0" anchor="ctr"/>
          <a:lstStyle/>
          <a:p>
            <a:pPr marL="0" indent="0">
              <a:buNone/>
            </a:pPr>
            <a:r>
              <a:rPr lang="en-US" sz="2800" b="1" dirty="0">
                <a:solidFill>
                  <a:srgbClr val="FCA311"/>
                </a:solidFill>
              </a:rPr>
              <a:t>63%↓</a:t>
            </a:r>
            <a:endParaRPr lang="en-US" sz="2800" dirty="0"/>
          </a:p>
        </p:txBody>
      </p:sp>
      <p:sp>
        <p:nvSpPr>
          <p:cNvPr id="22" name="Text 16"/>
          <p:cNvSpPr/>
          <p:nvPr/>
        </p:nvSpPr>
        <p:spPr>
          <a:xfrm>
            <a:off x="5760720" y="3246120"/>
            <a:ext cx="3017520" cy="640080"/>
          </a:xfrm>
          <a:prstGeom prst="rect">
            <a:avLst/>
          </a:prstGeom>
          <a:noFill/>
          <a:ln/>
        </p:spPr>
        <p:txBody>
          <a:bodyPr wrap="square" rtlCol="0" anchor="ctr"/>
          <a:lstStyle/>
          <a:p>
            <a:pPr marL="171450" indent="-171450">
              <a:buFont typeface="Arial" panose="020B0604020202020204" pitchFamily="34" charset="0"/>
              <a:buChar char="•"/>
            </a:pPr>
            <a:r>
              <a:rPr lang="en-US" sz="900" dirty="0">
                <a:solidFill>
                  <a:srgbClr val="14213D"/>
                </a:solidFill>
              </a:rPr>
              <a:t>채용 프로세스를 36일에서 13일로 </a:t>
            </a:r>
            <a:r>
              <a:rPr lang="en-US" sz="900" dirty="0" err="1">
                <a:solidFill>
                  <a:srgbClr val="14213D"/>
                </a:solidFill>
              </a:rPr>
              <a:t>단축</a:t>
            </a:r>
            <a:endParaRPr lang="en-US" sz="900" dirty="0">
              <a:solidFill>
                <a:srgbClr val="14213D"/>
              </a:solidFill>
            </a:endParaRPr>
          </a:p>
          <a:p>
            <a:pPr marL="171450" indent="-171450">
              <a:buFont typeface="Arial" panose="020B0604020202020204" pitchFamily="34" charset="0"/>
              <a:buChar char="•"/>
            </a:pPr>
            <a:endParaRPr lang="en-US" sz="900" dirty="0">
              <a:solidFill>
                <a:srgbClr val="14213D"/>
              </a:solidFill>
            </a:endParaRPr>
          </a:p>
          <a:p>
            <a:pPr marL="171450" indent="-171450">
              <a:buFont typeface="Arial" panose="020B0604020202020204" pitchFamily="34" charset="0"/>
              <a:buChar char="•"/>
            </a:pPr>
            <a:r>
              <a:rPr lang="ko-KR" altLang="en-US" sz="900" dirty="0"/>
              <a:t>기업의 채용 공고 번역</a:t>
            </a:r>
            <a:r>
              <a:rPr lang="en-US" altLang="ko-KR" sz="900" dirty="0"/>
              <a:t>·</a:t>
            </a:r>
            <a:r>
              <a:rPr lang="ko-KR" altLang="en-US" sz="900" dirty="0"/>
              <a:t>상담 비용 </a:t>
            </a:r>
            <a:r>
              <a:rPr lang="en-US" altLang="ko-KR" sz="900" dirty="0"/>
              <a:t>70% </a:t>
            </a:r>
            <a:r>
              <a:rPr lang="ko-KR" altLang="en-US" sz="900" dirty="0"/>
              <a:t>절감</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5437B-4A3C-4812-D669-82533D1784ED}"/>
            </a:ext>
          </a:extLst>
        </p:cNvPr>
        <p:cNvGrpSpPr/>
        <p:nvPr/>
      </p:nvGrpSpPr>
      <p:grpSpPr>
        <a:xfrm>
          <a:off x="0" y="0"/>
          <a:ext cx="0" cy="0"/>
          <a:chOff x="0" y="0"/>
          <a:chExt cx="0" cy="0"/>
        </a:xfrm>
      </p:grpSpPr>
      <p:pic>
        <p:nvPicPr>
          <p:cNvPr id="26" name="그림 25">
            <a:extLst>
              <a:ext uri="{FF2B5EF4-FFF2-40B4-BE49-F238E27FC236}">
                <a16:creationId xmlns:a16="http://schemas.microsoft.com/office/drawing/2014/main" id="{0E861B7F-6836-E962-4715-8021C6F5F210}"/>
              </a:ext>
            </a:extLst>
          </p:cNvPr>
          <p:cNvPicPr>
            <a:picLocks noChangeAspect="1"/>
          </p:cNvPicPr>
          <p:nvPr/>
        </p:nvPicPr>
        <p:blipFill>
          <a:blip r:embed="rId3"/>
          <a:stretch>
            <a:fillRect/>
          </a:stretch>
        </p:blipFill>
        <p:spPr>
          <a:xfrm>
            <a:off x="1182496" y="678391"/>
            <a:ext cx="4754790" cy="987636"/>
          </a:xfrm>
          <a:prstGeom prst="rect">
            <a:avLst/>
          </a:prstGeom>
        </p:spPr>
      </p:pic>
      <p:sp>
        <p:nvSpPr>
          <p:cNvPr id="2" name="Text 0">
            <a:extLst>
              <a:ext uri="{FF2B5EF4-FFF2-40B4-BE49-F238E27FC236}">
                <a16:creationId xmlns:a16="http://schemas.microsoft.com/office/drawing/2014/main" id="{81C42E59-46E3-F956-1BC1-B3E71E7E774F}"/>
              </a:ext>
            </a:extLst>
          </p:cNvPr>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14213D"/>
                </a:solidFill>
              </a:rPr>
              <a:t>정량적 성능 지표</a:t>
            </a:r>
            <a:endParaRPr lang="en-US" sz="2400" dirty="0"/>
          </a:p>
        </p:txBody>
      </p:sp>
      <p:sp>
        <p:nvSpPr>
          <p:cNvPr id="23" name="Title 1">
            <a:extLst>
              <a:ext uri="{FF2B5EF4-FFF2-40B4-BE49-F238E27FC236}">
                <a16:creationId xmlns:a16="http://schemas.microsoft.com/office/drawing/2014/main" id="{A3779DC9-B169-3D52-783D-55FE4345119C}"/>
              </a:ext>
            </a:extLst>
          </p:cNvPr>
          <p:cNvSpPr txBox="1">
            <a:spLocks/>
          </p:cNvSpPr>
          <p:nvPr/>
        </p:nvSpPr>
        <p:spPr>
          <a:xfrm>
            <a:off x="325545" y="1076170"/>
            <a:ext cx="2247700" cy="321996"/>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ko-KR" altLang="en-US" sz="1400" dirty="0"/>
              <a:t>사회적 가치 및 공익성</a:t>
            </a:r>
          </a:p>
        </p:txBody>
      </p:sp>
      <p:sp>
        <p:nvSpPr>
          <p:cNvPr id="24" name="Content Placeholder 2">
            <a:extLst>
              <a:ext uri="{FF2B5EF4-FFF2-40B4-BE49-F238E27FC236}">
                <a16:creationId xmlns:a16="http://schemas.microsoft.com/office/drawing/2014/main" id="{5ED6750B-237A-C64F-8ADB-ED579351C4EF}"/>
              </a:ext>
            </a:extLst>
          </p:cNvPr>
          <p:cNvSpPr txBox="1">
            <a:spLocks/>
          </p:cNvSpPr>
          <p:nvPr/>
        </p:nvSpPr>
        <p:spPr>
          <a:xfrm>
            <a:off x="1632514" y="2202220"/>
            <a:ext cx="7054285" cy="107790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ko-KR" altLang="en-US" sz="900" dirty="0">
              <a:latin typeface="+mj-ea"/>
              <a:ea typeface="+mj-ea"/>
            </a:endParaRPr>
          </a:p>
          <a:p>
            <a:pPr>
              <a:defRPr sz="1600"/>
            </a:pPr>
            <a:r>
              <a:rPr lang="ko-KR" altLang="en-US" sz="900" dirty="0">
                <a:latin typeface="+mj-ea"/>
                <a:ea typeface="+mj-ea"/>
              </a:rPr>
              <a:t>외국인 노동자의 근로권 및 정보 접근권을 보장하여 불법</a:t>
            </a:r>
            <a:r>
              <a:rPr lang="en-US" altLang="ko-KR" sz="900" dirty="0">
                <a:latin typeface="+mj-ea"/>
                <a:ea typeface="+mj-ea"/>
              </a:rPr>
              <a:t>·</a:t>
            </a:r>
            <a:r>
              <a:rPr lang="ko-KR" altLang="en-US" sz="900" dirty="0">
                <a:latin typeface="+mj-ea"/>
                <a:ea typeface="+mj-ea"/>
              </a:rPr>
              <a:t>불공정 근로를 예방합니다</a:t>
            </a:r>
            <a:r>
              <a:rPr lang="en-US" altLang="ko-KR" sz="900" dirty="0">
                <a:latin typeface="+mj-ea"/>
                <a:ea typeface="+mj-ea"/>
              </a:rPr>
              <a:t>.</a:t>
            </a:r>
          </a:p>
          <a:p>
            <a:pPr>
              <a:defRPr sz="1600"/>
            </a:pPr>
            <a:endParaRPr lang="en-US" altLang="ko-KR" sz="900" dirty="0">
              <a:latin typeface="+mj-ea"/>
              <a:ea typeface="+mj-ea"/>
            </a:endParaRPr>
          </a:p>
          <a:p>
            <a:pPr>
              <a:defRPr sz="1600"/>
            </a:pPr>
            <a:endParaRPr lang="en-US" altLang="ko-KR" sz="900" dirty="0">
              <a:latin typeface="+mj-ea"/>
              <a:ea typeface="+mj-ea"/>
            </a:endParaRPr>
          </a:p>
          <a:p>
            <a:pPr>
              <a:defRPr sz="1600"/>
            </a:pPr>
            <a:endParaRPr lang="en-US" altLang="ko-KR" sz="900" dirty="0">
              <a:latin typeface="+mj-ea"/>
              <a:ea typeface="+mj-ea"/>
            </a:endParaRPr>
          </a:p>
          <a:p>
            <a:pPr>
              <a:defRPr sz="1600"/>
            </a:pPr>
            <a:r>
              <a:rPr lang="ko-KR" altLang="en-US" sz="900" dirty="0">
                <a:latin typeface="+mj-ea"/>
                <a:ea typeface="+mj-ea"/>
              </a:rPr>
              <a:t>다문화 가정과 커뮤니티에 정확한 정보와 교육 콘텐츠를 제공해 사회적 통합을 촉진합니다</a:t>
            </a:r>
            <a:r>
              <a:rPr lang="en-US" altLang="ko-KR" sz="900" dirty="0">
                <a:latin typeface="+mj-ea"/>
                <a:ea typeface="+mj-ea"/>
              </a:rPr>
              <a:t>.</a:t>
            </a:r>
          </a:p>
          <a:p>
            <a:pPr>
              <a:defRPr sz="1600"/>
            </a:pPr>
            <a:endParaRPr lang="en-US" altLang="ko-KR" sz="900" dirty="0">
              <a:latin typeface="+mj-ea"/>
              <a:ea typeface="+mj-ea"/>
            </a:endParaRPr>
          </a:p>
          <a:p>
            <a:pPr>
              <a:defRPr sz="1600"/>
            </a:pPr>
            <a:endParaRPr lang="en-US" altLang="ko-KR" sz="900" dirty="0">
              <a:latin typeface="+mj-ea"/>
              <a:ea typeface="+mj-ea"/>
            </a:endParaRPr>
          </a:p>
          <a:p>
            <a:pPr>
              <a:defRPr sz="1600"/>
            </a:pPr>
            <a:endParaRPr lang="en-US" altLang="ko-KR" sz="900" dirty="0">
              <a:latin typeface="+mj-ea"/>
              <a:ea typeface="+mj-ea"/>
            </a:endParaRPr>
          </a:p>
          <a:p>
            <a:pPr>
              <a:defRPr sz="1600"/>
            </a:pPr>
            <a:r>
              <a:rPr lang="ko-KR" altLang="en-US" sz="900" dirty="0">
                <a:latin typeface="+mj-ea"/>
                <a:ea typeface="+mj-ea"/>
              </a:rPr>
              <a:t>지역 중소기업의 인력난 해소와 지방 경제 활성화에 기여하며</a:t>
            </a:r>
            <a:r>
              <a:rPr lang="en-US" altLang="ko-KR" sz="900" dirty="0">
                <a:latin typeface="+mj-ea"/>
                <a:ea typeface="+mj-ea"/>
              </a:rPr>
              <a:t>, </a:t>
            </a:r>
            <a:r>
              <a:rPr lang="ko-KR" altLang="en-US" sz="900" dirty="0">
                <a:latin typeface="+mj-ea"/>
                <a:ea typeface="+mj-ea"/>
              </a:rPr>
              <a:t>정부의 포용적 고용정책과 일치합니다</a:t>
            </a:r>
            <a:r>
              <a:rPr lang="en-US" altLang="ko-KR" sz="900" dirty="0">
                <a:latin typeface="+mj-ea"/>
                <a:ea typeface="+mj-ea"/>
              </a:rPr>
              <a:t>.</a:t>
            </a:r>
          </a:p>
        </p:txBody>
      </p:sp>
      <p:pic>
        <p:nvPicPr>
          <p:cNvPr id="28" name="그림 27">
            <a:extLst>
              <a:ext uri="{FF2B5EF4-FFF2-40B4-BE49-F238E27FC236}">
                <a16:creationId xmlns:a16="http://schemas.microsoft.com/office/drawing/2014/main" id="{5356605B-2E2F-4657-89F3-7B791892B429}"/>
              </a:ext>
            </a:extLst>
          </p:cNvPr>
          <p:cNvPicPr>
            <a:picLocks noChangeAspect="1"/>
          </p:cNvPicPr>
          <p:nvPr/>
        </p:nvPicPr>
        <p:blipFill>
          <a:blip r:embed="rId4"/>
          <a:stretch>
            <a:fillRect/>
          </a:stretch>
        </p:blipFill>
        <p:spPr>
          <a:xfrm>
            <a:off x="1358289" y="2202220"/>
            <a:ext cx="548449" cy="536193"/>
          </a:xfrm>
          <a:prstGeom prst="rect">
            <a:avLst/>
          </a:prstGeom>
        </p:spPr>
      </p:pic>
      <p:pic>
        <p:nvPicPr>
          <p:cNvPr id="30" name="그림 29">
            <a:extLst>
              <a:ext uri="{FF2B5EF4-FFF2-40B4-BE49-F238E27FC236}">
                <a16:creationId xmlns:a16="http://schemas.microsoft.com/office/drawing/2014/main" id="{D443B117-C2CC-23FC-5494-B24F015A1A62}"/>
              </a:ext>
            </a:extLst>
          </p:cNvPr>
          <p:cNvPicPr>
            <a:picLocks noChangeAspect="1"/>
          </p:cNvPicPr>
          <p:nvPr/>
        </p:nvPicPr>
        <p:blipFill>
          <a:blip r:embed="rId5"/>
          <a:stretch>
            <a:fillRect/>
          </a:stretch>
        </p:blipFill>
        <p:spPr>
          <a:xfrm>
            <a:off x="1358289" y="2854247"/>
            <a:ext cx="517332" cy="536193"/>
          </a:xfrm>
          <a:prstGeom prst="rect">
            <a:avLst/>
          </a:prstGeom>
        </p:spPr>
      </p:pic>
      <p:pic>
        <p:nvPicPr>
          <p:cNvPr id="32" name="그림 31">
            <a:extLst>
              <a:ext uri="{FF2B5EF4-FFF2-40B4-BE49-F238E27FC236}">
                <a16:creationId xmlns:a16="http://schemas.microsoft.com/office/drawing/2014/main" id="{4A914575-196E-619F-C8FC-442EFCBCDE3E}"/>
              </a:ext>
            </a:extLst>
          </p:cNvPr>
          <p:cNvPicPr>
            <a:picLocks noChangeAspect="1"/>
          </p:cNvPicPr>
          <p:nvPr/>
        </p:nvPicPr>
        <p:blipFill>
          <a:blip r:embed="rId6"/>
          <a:stretch>
            <a:fillRect/>
          </a:stretch>
        </p:blipFill>
        <p:spPr>
          <a:xfrm>
            <a:off x="1354948" y="3506274"/>
            <a:ext cx="606132" cy="606132"/>
          </a:xfrm>
          <a:prstGeom prst="rect">
            <a:avLst/>
          </a:prstGeom>
        </p:spPr>
      </p:pic>
    </p:spTree>
    <p:extLst>
      <p:ext uri="{BB962C8B-B14F-4D97-AF65-F5344CB8AC3E}">
        <p14:creationId xmlns:p14="http://schemas.microsoft.com/office/powerpoint/2010/main" val="800960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14213D"/>
                </a:solidFill>
              </a:rPr>
              <a:t>방법론 및 구현</a:t>
            </a:r>
            <a:endParaRPr lang="en-US" sz="2400" dirty="0"/>
          </a:p>
        </p:txBody>
      </p:sp>
      <p:sp>
        <p:nvSpPr>
          <p:cNvPr id="3" name="Shape 1"/>
          <p:cNvSpPr/>
          <p:nvPr/>
        </p:nvSpPr>
        <p:spPr>
          <a:xfrm>
            <a:off x="290039" y="1828800"/>
            <a:ext cx="1371600" cy="1828800"/>
          </a:xfrm>
          <a:prstGeom prst="roundRect">
            <a:avLst>
              <a:gd name="adj" fmla="val 3333"/>
            </a:avLst>
          </a:prstGeom>
          <a:solidFill>
            <a:srgbClr val="E5E5E5"/>
          </a:solidFill>
          <a:ln w="12700">
            <a:solidFill>
              <a:srgbClr val="007C91"/>
            </a:solidFill>
            <a:prstDash val="solid"/>
          </a:ln>
        </p:spPr>
        <p:txBody>
          <a:bodyPr/>
          <a:lstStyle/>
          <a:p>
            <a:endParaRPr/>
          </a:p>
        </p:txBody>
      </p:sp>
      <p:pic>
        <p:nvPicPr>
          <p:cNvPr id="4" name="Image 0" descr="preencoded.png"/>
          <p:cNvPicPr>
            <a:picLocks noChangeAspect="1"/>
          </p:cNvPicPr>
          <p:nvPr/>
        </p:nvPicPr>
        <p:blipFill>
          <a:blip r:embed="rId3"/>
          <a:stretch>
            <a:fillRect/>
          </a:stretch>
        </p:blipFill>
        <p:spPr>
          <a:xfrm>
            <a:off x="701519" y="2011680"/>
            <a:ext cx="457200" cy="457200"/>
          </a:xfrm>
          <a:prstGeom prst="rect">
            <a:avLst/>
          </a:prstGeom>
        </p:spPr>
      </p:pic>
      <p:sp>
        <p:nvSpPr>
          <p:cNvPr id="5" name="Text 2"/>
          <p:cNvSpPr/>
          <p:nvPr/>
        </p:nvSpPr>
        <p:spPr>
          <a:xfrm>
            <a:off x="381479" y="2560320"/>
            <a:ext cx="1188720" cy="365760"/>
          </a:xfrm>
          <a:prstGeom prst="rect">
            <a:avLst/>
          </a:prstGeom>
          <a:noFill/>
          <a:ln/>
        </p:spPr>
        <p:txBody>
          <a:bodyPr wrap="square" rtlCol="0" anchor="ctr"/>
          <a:lstStyle/>
          <a:p>
            <a:pPr marL="0" indent="0" algn="ctr">
              <a:buNone/>
            </a:pPr>
            <a:r>
              <a:rPr lang="en-US" sz="1000" b="1" dirty="0">
                <a:solidFill>
                  <a:srgbClr val="14213D"/>
                </a:solidFill>
              </a:rPr>
              <a:t>데이터 수집</a:t>
            </a:r>
            <a:endParaRPr lang="en-US" sz="1000" dirty="0"/>
          </a:p>
        </p:txBody>
      </p:sp>
      <p:sp>
        <p:nvSpPr>
          <p:cNvPr id="6" name="Text 3"/>
          <p:cNvSpPr/>
          <p:nvPr/>
        </p:nvSpPr>
        <p:spPr>
          <a:xfrm>
            <a:off x="335759" y="2926080"/>
            <a:ext cx="1280160" cy="640080"/>
          </a:xfrm>
          <a:prstGeom prst="rect">
            <a:avLst/>
          </a:prstGeom>
          <a:noFill/>
          <a:ln/>
        </p:spPr>
        <p:txBody>
          <a:bodyPr wrap="square" rtlCol="0" anchor="ctr"/>
          <a:lstStyle/>
          <a:p>
            <a:pPr marL="0" indent="0" algn="ctr">
              <a:buNone/>
            </a:pPr>
            <a:r>
              <a:rPr lang="en-US" sz="700" dirty="0">
                <a:solidFill>
                  <a:srgbClr val="14213D"/>
                </a:solidFill>
              </a:rPr>
              <a:t>채용 정보, 사용자 프로필, 기업 요구사항을 수집</a:t>
            </a:r>
            <a:endParaRPr lang="en-US" sz="700" dirty="0"/>
          </a:p>
        </p:txBody>
      </p:sp>
      <p:sp>
        <p:nvSpPr>
          <p:cNvPr id="7" name="Shape 4"/>
          <p:cNvSpPr/>
          <p:nvPr/>
        </p:nvSpPr>
        <p:spPr>
          <a:xfrm>
            <a:off x="1692119" y="2423160"/>
            <a:ext cx="381000" cy="457200"/>
          </a:xfrm>
          <a:prstGeom prst="rightArrow">
            <a:avLst/>
          </a:prstGeom>
          <a:solidFill>
            <a:srgbClr val="007C91"/>
          </a:solidFill>
          <a:ln w="12700">
            <a:solidFill>
              <a:srgbClr val="007C91"/>
            </a:solidFill>
            <a:prstDash val="solid"/>
          </a:ln>
        </p:spPr>
        <p:txBody>
          <a:bodyPr/>
          <a:lstStyle/>
          <a:p>
            <a:endParaRPr/>
          </a:p>
        </p:txBody>
      </p:sp>
      <p:sp>
        <p:nvSpPr>
          <p:cNvPr id="8" name="Shape 5"/>
          <p:cNvSpPr/>
          <p:nvPr/>
        </p:nvSpPr>
        <p:spPr>
          <a:xfrm>
            <a:off x="2085722" y="1828800"/>
            <a:ext cx="1371600" cy="1828800"/>
          </a:xfrm>
          <a:prstGeom prst="roundRect">
            <a:avLst>
              <a:gd name="adj" fmla="val 3333"/>
            </a:avLst>
          </a:prstGeom>
          <a:solidFill>
            <a:srgbClr val="E5E5E5"/>
          </a:solidFill>
          <a:ln w="12700">
            <a:solidFill>
              <a:srgbClr val="007C91"/>
            </a:solidFill>
            <a:prstDash val="solid"/>
          </a:ln>
        </p:spPr>
        <p:txBody>
          <a:bodyPr/>
          <a:lstStyle/>
          <a:p>
            <a:endParaRPr/>
          </a:p>
        </p:txBody>
      </p:sp>
      <p:pic>
        <p:nvPicPr>
          <p:cNvPr id="9" name="Image 1" descr="preencoded.png"/>
          <p:cNvPicPr>
            <a:picLocks noChangeAspect="1"/>
          </p:cNvPicPr>
          <p:nvPr/>
        </p:nvPicPr>
        <p:blipFill>
          <a:blip r:embed="rId4"/>
          <a:stretch>
            <a:fillRect/>
          </a:stretch>
        </p:blipFill>
        <p:spPr>
          <a:xfrm>
            <a:off x="2497202" y="2011680"/>
            <a:ext cx="457200" cy="457200"/>
          </a:xfrm>
          <a:prstGeom prst="rect">
            <a:avLst/>
          </a:prstGeom>
        </p:spPr>
      </p:pic>
      <p:sp>
        <p:nvSpPr>
          <p:cNvPr id="10" name="Text 6"/>
          <p:cNvSpPr/>
          <p:nvPr/>
        </p:nvSpPr>
        <p:spPr>
          <a:xfrm>
            <a:off x="2177162" y="2560320"/>
            <a:ext cx="1188720" cy="365760"/>
          </a:xfrm>
          <a:prstGeom prst="rect">
            <a:avLst/>
          </a:prstGeom>
          <a:noFill/>
          <a:ln/>
        </p:spPr>
        <p:txBody>
          <a:bodyPr wrap="square" rtlCol="0" anchor="ctr"/>
          <a:lstStyle/>
          <a:p>
            <a:pPr marL="0" indent="0" algn="ctr">
              <a:buNone/>
            </a:pPr>
            <a:r>
              <a:rPr lang="en-US" sz="1000" b="1" dirty="0">
                <a:solidFill>
                  <a:srgbClr val="14213D"/>
                </a:solidFill>
              </a:rPr>
              <a:t>번역·큐레이션</a:t>
            </a:r>
            <a:endParaRPr lang="en-US" sz="1000" dirty="0"/>
          </a:p>
        </p:txBody>
      </p:sp>
      <p:sp>
        <p:nvSpPr>
          <p:cNvPr id="11" name="Text 7"/>
          <p:cNvSpPr/>
          <p:nvPr/>
        </p:nvSpPr>
        <p:spPr>
          <a:xfrm>
            <a:off x="2131442" y="2926080"/>
            <a:ext cx="1280160" cy="640080"/>
          </a:xfrm>
          <a:prstGeom prst="rect">
            <a:avLst/>
          </a:prstGeom>
          <a:noFill/>
          <a:ln/>
        </p:spPr>
        <p:txBody>
          <a:bodyPr wrap="square" rtlCol="0" anchor="ctr"/>
          <a:lstStyle/>
          <a:p>
            <a:pPr marL="0" indent="0" algn="ctr">
              <a:buNone/>
            </a:pPr>
            <a:r>
              <a:rPr lang="en-US" sz="700" dirty="0">
                <a:solidFill>
                  <a:srgbClr val="14213D"/>
                </a:solidFill>
              </a:rPr>
              <a:t>NLLB‑200로 다국어 번역, 중복 번역 캐싱</a:t>
            </a:r>
            <a:endParaRPr lang="en-US" sz="700" dirty="0"/>
          </a:p>
        </p:txBody>
      </p:sp>
      <p:sp>
        <p:nvSpPr>
          <p:cNvPr id="12" name="Shape 8"/>
          <p:cNvSpPr/>
          <p:nvPr/>
        </p:nvSpPr>
        <p:spPr>
          <a:xfrm>
            <a:off x="3469925" y="2514600"/>
            <a:ext cx="381000" cy="457200"/>
          </a:xfrm>
          <a:prstGeom prst="rightArrow">
            <a:avLst/>
          </a:prstGeom>
          <a:solidFill>
            <a:srgbClr val="007C91"/>
          </a:solidFill>
          <a:ln w="12700">
            <a:solidFill>
              <a:srgbClr val="007C91"/>
            </a:solidFill>
            <a:prstDash val="solid"/>
          </a:ln>
        </p:spPr>
        <p:txBody>
          <a:bodyPr/>
          <a:lstStyle/>
          <a:p>
            <a:endParaRPr/>
          </a:p>
        </p:txBody>
      </p:sp>
      <p:sp>
        <p:nvSpPr>
          <p:cNvPr id="13" name="Shape 9"/>
          <p:cNvSpPr/>
          <p:nvPr/>
        </p:nvSpPr>
        <p:spPr>
          <a:xfrm>
            <a:off x="3852683" y="1828800"/>
            <a:ext cx="1371600" cy="1828800"/>
          </a:xfrm>
          <a:prstGeom prst="roundRect">
            <a:avLst>
              <a:gd name="adj" fmla="val 3333"/>
            </a:avLst>
          </a:prstGeom>
          <a:solidFill>
            <a:srgbClr val="E5E5E5"/>
          </a:solidFill>
          <a:ln w="12700">
            <a:solidFill>
              <a:srgbClr val="007C91"/>
            </a:solidFill>
            <a:prstDash val="solid"/>
          </a:ln>
        </p:spPr>
        <p:txBody>
          <a:bodyPr/>
          <a:lstStyle/>
          <a:p>
            <a:endParaRPr/>
          </a:p>
        </p:txBody>
      </p:sp>
      <p:pic>
        <p:nvPicPr>
          <p:cNvPr id="14" name="Image 2" descr="preencoded.png"/>
          <p:cNvPicPr>
            <a:picLocks noChangeAspect="1"/>
          </p:cNvPicPr>
          <p:nvPr/>
        </p:nvPicPr>
        <p:blipFill>
          <a:blip r:embed="rId5"/>
          <a:stretch>
            <a:fillRect/>
          </a:stretch>
        </p:blipFill>
        <p:spPr>
          <a:xfrm>
            <a:off x="4264163" y="2011680"/>
            <a:ext cx="457200" cy="457200"/>
          </a:xfrm>
          <a:prstGeom prst="rect">
            <a:avLst/>
          </a:prstGeom>
        </p:spPr>
      </p:pic>
      <p:sp>
        <p:nvSpPr>
          <p:cNvPr id="15" name="Text 10"/>
          <p:cNvSpPr/>
          <p:nvPr/>
        </p:nvSpPr>
        <p:spPr>
          <a:xfrm>
            <a:off x="3944123" y="2560320"/>
            <a:ext cx="1188720" cy="365760"/>
          </a:xfrm>
          <a:prstGeom prst="rect">
            <a:avLst/>
          </a:prstGeom>
          <a:noFill/>
          <a:ln/>
        </p:spPr>
        <p:txBody>
          <a:bodyPr wrap="square" rtlCol="0" anchor="ctr"/>
          <a:lstStyle/>
          <a:p>
            <a:pPr marL="0" indent="0" algn="ctr">
              <a:buNone/>
            </a:pPr>
            <a:r>
              <a:rPr lang="en-US" sz="1000" b="1" dirty="0">
                <a:solidFill>
                  <a:srgbClr val="14213D"/>
                </a:solidFill>
              </a:rPr>
              <a:t>AI 매칭</a:t>
            </a:r>
            <a:endParaRPr lang="en-US" sz="1000" dirty="0"/>
          </a:p>
        </p:txBody>
      </p:sp>
      <p:sp>
        <p:nvSpPr>
          <p:cNvPr id="16" name="Text 11"/>
          <p:cNvSpPr/>
          <p:nvPr/>
        </p:nvSpPr>
        <p:spPr>
          <a:xfrm>
            <a:off x="3898403" y="2926080"/>
            <a:ext cx="1280160" cy="640080"/>
          </a:xfrm>
          <a:prstGeom prst="rect">
            <a:avLst/>
          </a:prstGeom>
          <a:noFill/>
          <a:ln/>
        </p:spPr>
        <p:txBody>
          <a:bodyPr wrap="square" rtlCol="0" anchor="ctr"/>
          <a:lstStyle/>
          <a:p>
            <a:pPr marL="0" indent="0" algn="ctr">
              <a:buNone/>
            </a:pPr>
            <a:r>
              <a:rPr lang="en-US" sz="700" dirty="0">
                <a:solidFill>
                  <a:srgbClr val="14213D"/>
                </a:solidFill>
              </a:rPr>
              <a:t>학습된 모델로 후보·채용간 적합도 예측</a:t>
            </a:r>
            <a:endParaRPr lang="en-US" sz="700" dirty="0"/>
          </a:p>
        </p:txBody>
      </p:sp>
      <p:sp>
        <p:nvSpPr>
          <p:cNvPr id="17" name="Shape 12"/>
          <p:cNvSpPr/>
          <p:nvPr/>
        </p:nvSpPr>
        <p:spPr>
          <a:xfrm>
            <a:off x="5238644" y="2514600"/>
            <a:ext cx="381000" cy="457200"/>
          </a:xfrm>
          <a:prstGeom prst="rightArrow">
            <a:avLst/>
          </a:prstGeom>
          <a:solidFill>
            <a:srgbClr val="007C91"/>
          </a:solidFill>
          <a:ln w="12700">
            <a:solidFill>
              <a:srgbClr val="007C91"/>
            </a:solidFill>
            <a:prstDash val="solid"/>
          </a:ln>
        </p:spPr>
        <p:txBody>
          <a:bodyPr/>
          <a:lstStyle/>
          <a:p>
            <a:endParaRPr/>
          </a:p>
        </p:txBody>
      </p:sp>
      <p:sp>
        <p:nvSpPr>
          <p:cNvPr id="18" name="Shape 13"/>
          <p:cNvSpPr/>
          <p:nvPr/>
        </p:nvSpPr>
        <p:spPr>
          <a:xfrm>
            <a:off x="5629218" y="1828800"/>
            <a:ext cx="1371600" cy="1828800"/>
          </a:xfrm>
          <a:prstGeom prst="roundRect">
            <a:avLst>
              <a:gd name="adj" fmla="val 3333"/>
            </a:avLst>
          </a:prstGeom>
          <a:solidFill>
            <a:srgbClr val="E5E5E5"/>
          </a:solidFill>
          <a:ln w="12700">
            <a:solidFill>
              <a:srgbClr val="007C91"/>
            </a:solidFill>
            <a:prstDash val="solid"/>
          </a:ln>
        </p:spPr>
        <p:txBody>
          <a:bodyPr/>
          <a:lstStyle/>
          <a:p>
            <a:endParaRPr/>
          </a:p>
        </p:txBody>
      </p:sp>
      <p:pic>
        <p:nvPicPr>
          <p:cNvPr id="19" name="Image 3" descr="preencoded.png"/>
          <p:cNvPicPr>
            <a:picLocks noChangeAspect="1"/>
          </p:cNvPicPr>
          <p:nvPr/>
        </p:nvPicPr>
        <p:blipFill>
          <a:blip r:embed="rId6"/>
          <a:stretch>
            <a:fillRect/>
          </a:stretch>
        </p:blipFill>
        <p:spPr>
          <a:xfrm>
            <a:off x="6040698" y="2011680"/>
            <a:ext cx="457200" cy="457200"/>
          </a:xfrm>
          <a:prstGeom prst="rect">
            <a:avLst/>
          </a:prstGeom>
        </p:spPr>
      </p:pic>
      <p:sp>
        <p:nvSpPr>
          <p:cNvPr id="20" name="Text 14"/>
          <p:cNvSpPr/>
          <p:nvPr/>
        </p:nvSpPr>
        <p:spPr>
          <a:xfrm>
            <a:off x="5720658" y="2560320"/>
            <a:ext cx="1188720" cy="365760"/>
          </a:xfrm>
          <a:prstGeom prst="rect">
            <a:avLst/>
          </a:prstGeom>
          <a:noFill/>
          <a:ln/>
        </p:spPr>
        <p:txBody>
          <a:bodyPr wrap="square" rtlCol="0" anchor="ctr"/>
          <a:lstStyle/>
          <a:p>
            <a:pPr marL="0" indent="0" algn="ctr">
              <a:buNone/>
            </a:pPr>
            <a:r>
              <a:rPr lang="en-US" sz="1000" b="1" dirty="0">
                <a:solidFill>
                  <a:srgbClr val="14213D"/>
                </a:solidFill>
              </a:rPr>
              <a:t>구독·배포</a:t>
            </a:r>
            <a:endParaRPr lang="en-US" sz="1000" dirty="0"/>
          </a:p>
        </p:txBody>
      </p:sp>
      <p:sp>
        <p:nvSpPr>
          <p:cNvPr id="21" name="Text 15"/>
          <p:cNvSpPr/>
          <p:nvPr/>
        </p:nvSpPr>
        <p:spPr>
          <a:xfrm>
            <a:off x="5674938" y="2926080"/>
            <a:ext cx="1280160" cy="640080"/>
          </a:xfrm>
          <a:prstGeom prst="rect">
            <a:avLst/>
          </a:prstGeom>
          <a:noFill/>
          <a:ln/>
        </p:spPr>
        <p:txBody>
          <a:bodyPr wrap="square" rtlCol="0" anchor="ctr"/>
          <a:lstStyle/>
          <a:p>
            <a:pPr marL="0" indent="0" algn="ctr">
              <a:buNone/>
            </a:pPr>
            <a:r>
              <a:rPr lang="en-US" sz="700" dirty="0">
                <a:solidFill>
                  <a:srgbClr val="14213D"/>
                </a:solidFill>
              </a:rPr>
              <a:t>맞춤 공고를 앱·웹·API를 통해 배포</a:t>
            </a:r>
            <a:endParaRPr lang="en-US" sz="700" dirty="0"/>
          </a:p>
        </p:txBody>
      </p:sp>
      <p:sp>
        <p:nvSpPr>
          <p:cNvPr id="22" name="Shape 16"/>
          <p:cNvSpPr/>
          <p:nvPr/>
        </p:nvSpPr>
        <p:spPr>
          <a:xfrm>
            <a:off x="7014195" y="2514600"/>
            <a:ext cx="381000" cy="457200"/>
          </a:xfrm>
          <a:prstGeom prst="rightArrow">
            <a:avLst/>
          </a:prstGeom>
          <a:solidFill>
            <a:srgbClr val="007C91"/>
          </a:solidFill>
          <a:ln w="12700">
            <a:solidFill>
              <a:srgbClr val="007C91"/>
            </a:solidFill>
            <a:prstDash val="solid"/>
          </a:ln>
        </p:spPr>
        <p:txBody>
          <a:bodyPr/>
          <a:lstStyle/>
          <a:p>
            <a:endParaRPr/>
          </a:p>
        </p:txBody>
      </p:sp>
      <p:sp>
        <p:nvSpPr>
          <p:cNvPr id="23" name="Shape 17"/>
          <p:cNvSpPr/>
          <p:nvPr/>
        </p:nvSpPr>
        <p:spPr>
          <a:xfrm>
            <a:off x="7415339" y="1828800"/>
            <a:ext cx="1371600" cy="1828800"/>
          </a:xfrm>
          <a:prstGeom prst="roundRect">
            <a:avLst>
              <a:gd name="adj" fmla="val 3333"/>
            </a:avLst>
          </a:prstGeom>
          <a:solidFill>
            <a:srgbClr val="E5E5E5"/>
          </a:solidFill>
          <a:ln w="12700">
            <a:solidFill>
              <a:srgbClr val="007C91"/>
            </a:solidFill>
            <a:prstDash val="solid"/>
          </a:ln>
        </p:spPr>
        <p:txBody>
          <a:bodyPr/>
          <a:lstStyle/>
          <a:p>
            <a:endParaRPr/>
          </a:p>
        </p:txBody>
      </p:sp>
      <p:pic>
        <p:nvPicPr>
          <p:cNvPr id="24" name="Image 4" descr="preencoded.png"/>
          <p:cNvPicPr>
            <a:picLocks noChangeAspect="1"/>
          </p:cNvPicPr>
          <p:nvPr/>
        </p:nvPicPr>
        <p:blipFill>
          <a:blip r:embed="rId7"/>
          <a:stretch>
            <a:fillRect/>
          </a:stretch>
        </p:blipFill>
        <p:spPr>
          <a:xfrm>
            <a:off x="7826819" y="2011680"/>
            <a:ext cx="457200" cy="457200"/>
          </a:xfrm>
          <a:prstGeom prst="rect">
            <a:avLst/>
          </a:prstGeom>
        </p:spPr>
      </p:pic>
      <p:sp>
        <p:nvSpPr>
          <p:cNvPr id="25" name="Text 18"/>
          <p:cNvSpPr/>
          <p:nvPr/>
        </p:nvSpPr>
        <p:spPr>
          <a:xfrm>
            <a:off x="7506779" y="2560320"/>
            <a:ext cx="1188720" cy="365760"/>
          </a:xfrm>
          <a:prstGeom prst="rect">
            <a:avLst/>
          </a:prstGeom>
          <a:noFill/>
          <a:ln/>
        </p:spPr>
        <p:txBody>
          <a:bodyPr wrap="square" rtlCol="0" anchor="ctr"/>
          <a:lstStyle/>
          <a:p>
            <a:pPr marL="0" indent="0" algn="ctr">
              <a:buNone/>
            </a:pPr>
            <a:r>
              <a:rPr lang="en-US" sz="1000" b="1" dirty="0">
                <a:solidFill>
                  <a:srgbClr val="14213D"/>
                </a:solidFill>
              </a:rPr>
              <a:t>피드백·개선</a:t>
            </a:r>
            <a:endParaRPr lang="en-US" sz="1000" dirty="0"/>
          </a:p>
        </p:txBody>
      </p:sp>
      <p:sp>
        <p:nvSpPr>
          <p:cNvPr id="26" name="Text 19"/>
          <p:cNvSpPr/>
          <p:nvPr/>
        </p:nvSpPr>
        <p:spPr>
          <a:xfrm>
            <a:off x="7461059" y="2926080"/>
            <a:ext cx="1280160" cy="640080"/>
          </a:xfrm>
          <a:prstGeom prst="rect">
            <a:avLst/>
          </a:prstGeom>
          <a:noFill/>
          <a:ln/>
        </p:spPr>
        <p:txBody>
          <a:bodyPr wrap="square" rtlCol="0" anchor="ctr"/>
          <a:lstStyle/>
          <a:p>
            <a:pPr marL="0" indent="0" algn="ctr">
              <a:buNone/>
            </a:pPr>
            <a:r>
              <a:rPr lang="en-US" sz="700" dirty="0">
                <a:solidFill>
                  <a:srgbClr val="14213D"/>
                </a:solidFill>
              </a:rPr>
              <a:t>성능 모니터링 및 알고리즘 업데이트</a:t>
            </a:r>
            <a:endParaRPr lang="en-US" sz="700" dirty="0"/>
          </a:p>
        </p:txBody>
      </p:sp>
      <p:sp>
        <p:nvSpPr>
          <p:cNvPr id="27" name="Text 20"/>
          <p:cNvSpPr/>
          <p:nvPr/>
        </p:nvSpPr>
        <p:spPr>
          <a:xfrm>
            <a:off x="457200" y="4114800"/>
            <a:ext cx="8229600" cy="640080"/>
          </a:xfrm>
          <a:prstGeom prst="rect">
            <a:avLst/>
          </a:prstGeom>
          <a:noFill/>
          <a:ln/>
        </p:spPr>
        <p:txBody>
          <a:bodyPr wrap="square" rtlCol="0" anchor="ctr"/>
          <a:lstStyle/>
          <a:p>
            <a:pPr marL="0" indent="0" algn="ctr">
              <a:buNone/>
            </a:pPr>
            <a:r>
              <a:rPr lang="en-US" sz="1000" i="1" dirty="0">
                <a:solidFill>
                  <a:srgbClr val="14213D"/>
                </a:solidFill>
              </a:rPr>
              <a:t>데이터 → 번역·큐레이션 → 매칭 → 배포 → 개선의 선순환</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14213D"/>
                </a:solidFill>
              </a:rPr>
              <a:t>결론 및 다음 단계</a:t>
            </a:r>
            <a:endParaRPr lang="en-US" sz="2400" dirty="0"/>
          </a:p>
        </p:txBody>
      </p:sp>
      <p:sp>
        <p:nvSpPr>
          <p:cNvPr id="3" name="Text 1"/>
          <p:cNvSpPr/>
          <p:nvPr/>
        </p:nvSpPr>
        <p:spPr>
          <a:xfrm>
            <a:off x="457200" y="1048927"/>
            <a:ext cx="4389120" cy="2286000"/>
          </a:xfrm>
          <a:prstGeom prst="rect">
            <a:avLst/>
          </a:prstGeom>
          <a:noFill/>
          <a:ln/>
        </p:spPr>
        <p:txBody>
          <a:bodyPr wrap="square" rtlCol="0" anchor="ctr"/>
          <a:lstStyle/>
          <a:p>
            <a:r>
              <a:rPr lang="en-US" sz="900" b="1" dirty="0" err="1">
                <a:solidFill>
                  <a:srgbClr val="14213D"/>
                </a:solidFill>
                <a:latin typeface="+mj-ea"/>
                <a:ea typeface="+mj-ea"/>
              </a:rPr>
              <a:t>핵심</a:t>
            </a:r>
            <a:r>
              <a:rPr lang="en-US" sz="900" b="1" dirty="0">
                <a:solidFill>
                  <a:srgbClr val="14213D"/>
                </a:solidFill>
                <a:latin typeface="+mj-ea"/>
                <a:ea typeface="+mj-ea"/>
              </a:rPr>
              <a:t> </a:t>
            </a:r>
            <a:r>
              <a:rPr lang="en-US" sz="900" b="1" dirty="0" err="1">
                <a:solidFill>
                  <a:srgbClr val="14213D"/>
                </a:solidFill>
                <a:latin typeface="+mj-ea"/>
                <a:ea typeface="+mj-ea"/>
              </a:rPr>
              <a:t>결론</a:t>
            </a:r>
            <a:endParaRPr lang="en-US" sz="900" b="1" dirty="0">
              <a:solidFill>
                <a:srgbClr val="14213D"/>
              </a:solidFill>
              <a:latin typeface="+mj-ea"/>
              <a:ea typeface="+mj-ea"/>
            </a:endParaRPr>
          </a:p>
          <a:p>
            <a:r>
              <a:rPr lang="en-US" sz="900" b="1" dirty="0">
                <a:solidFill>
                  <a:srgbClr val="14213D"/>
                </a:solidFill>
                <a:latin typeface="+mj-ea"/>
                <a:ea typeface="+mj-ea"/>
              </a:rPr>
              <a:t>
</a:t>
            </a:r>
            <a:r>
              <a:rPr lang="en-US" sz="900" dirty="0">
                <a:solidFill>
                  <a:srgbClr val="14213D"/>
                </a:solidFill>
                <a:latin typeface="+mj-ea"/>
                <a:ea typeface="+mj-ea"/>
              </a:rPr>
              <a:t>• 한국의 노동시장에서는 외국인 인력 수요가 급격히 증가하고 </a:t>
            </a:r>
            <a:r>
              <a:rPr lang="en-US" sz="900" dirty="0" err="1">
                <a:solidFill>
                  <a:srgbClr val="14213D"/>
                </a:solidFill>
                <a:latin typeface="+mj-ea"/>
                <a:ea typeface="+mj-ea"/>
              </a:rPr>
              <a:t>있습니다</a:t>
            </a:r>
            <a:r>
              <a:rPr lang="en-US" sz="900" dirty="0">
                <a:solidFill>
                  <a:srgbClr val="14213D"/>
                </a:solidFill>
                <a:latin typeface="+mj-ea"/>
                <a:ea typeface="+mj-ea"/>
              </a:rPr>
              <a:t>.</a:t>
            </a:r>
            <a:r>
              <a:rPr lang="ko-KR" altLang="en-US" sz="900" dirty="0">
                <a:latin typeface="+mj-ea"/>
                <a:ea typeface="+mj-ea"/>
              </a:rPr>
              <a:t> 외국인 노동자와 한국 기업을 잇는 다리로서</a:t>
            </a:r>
            <a:r>
              <a:rPr lang="en-US" altLang="ko-KR" sz="900" dirty="0">
                <a:latin typeface="+mj-ea"/>
                <a:ea typeface="+mj-ea"/>
              </a:rPr>
              <a:t>, </a:t>
            </a:r>
            <a:r>
              <a:rPr lang="ko-KR" altLang="en-US" sz="900" dirty="0">
                <a:latin typeface="+mj-ea"/>
                <a:ea typeface="+mj-ea"/>
              </a:rPr>
              <a:t>언어</a:t>
            </a:r>
            <a:r>
              <a:rPr lang="en-US" altLang="ko-KR" sz="900" dirty="0">
                <a:latin typeface="+mj-ea"/>
                <a:ea typeface="+mj-ea"/>
              </a:rPr>
              <a:t>·</a:t>
            </a:r>
            <a:r>
              <a:rPr lang="ko-KR" altLang="en-US" sz="900" dirty="0">
                <a:latin typeface="+mj-ea"/>
                <a:ea typeface="+mj-ea"/>
              </a:rPr>
              <a:t>문화 장벽을 제거하여 공정한 고용 환경을 조성합니다</a:t>
            </a:r>
            <a:r>
              <a:rPr lang="en-US" altLang="ko-KR" sz="900" dirty="0">
                <a:latin typeface="+mj-ea"/>
                <a:ea typeface="+mj-ea"/>
              </a:rPr>
              <a:t>.</a:t>
            </a:r>
          </a:p>
          <a:p>
            <a:r>
              <a:rPr lang="en-US" sz="900" dirty="0">
                <a:solidFill>
                  <a:srgbClr val="14213D"/>
                </a:solidFill>
                <a:latin typeface="+mj-ea"/>
                <a:ea typeface="+mj-ea"/>
              </a:rPr>
              <a:t>
• 기존 플랫폼은 언어 수와 기술적 지원에 한계가 있으며, 높은 매칭 정확도와 번역 품질이 </a:t>
            </a:r>
            <a:r>
              <a:rPr lang="en-US" sz="900" dirty="0" err="1">
                <a:solidFill>
                  <a:srgbClr val="14213D"/>
                </a:solidFill>
                <a:latin typeface="+mj-ea"/>
                <a:ea typeface="+mj-ea"/>
              </a:rPr>
              <a:t>요구됩니다</a:t>
            </a:r>
            <a:r>
              <a:rPr lang="en-US" sz="900" dirty="0">
                <a:solidFill>
                  <a:srgbClr val="14213D"/>
                </a:solidFill>
                <a:latin typeface="+mj-ea"/>
                <a:ea typeface="+mj-ea"/>
              </a:rPr>
              <a:t>.</a:t>
            </a:r>
            <a:r>
              <a:rPr lang="ko-KR" altLang="en-US" sz="900" dirty="0">
                <a:latin typeface="+mj-ea"/>
                <a:ea typeface="+mj-ea"/>
              </a:rPr>
              <a:t> 정부의 디지털 고용 혁신 전략과 연계해 국가 경쟁력 강화 및 지역 균형 발전에 기여합니다</a:t>
            </a:r>
            <a:r>
              <a:rPr lang="en-US" altLang="ko-KR" sz="900" dirty="0">
                <a:latin typeface="+mj-ea"/>
                <a:ea typeface="+mj-ea"/>
              </a:rPr>
              <a:t>.</a:t>
            </a:r>
          </a:p>
          <a:p>
            <a:pPr marL="0" indent="0">
              <a:buNone/>
            </a:pPr>
            <a:r>
              <a:rPr lang="en-US" sz="900" dirty="0">
                <a:solidFill>
                  <a:srgbClr val="14213D"/>
                </a:solidFill>
                <a:latin typeface="+mj-ea"/>
                <a:ea typeface="+mj-ea"/>
              </a:rPr>
              <a:t>
• NLLB‑200과 AI 매칭을 결합한 구독형 모델은 수백 개 언어를 지원하며 채용 과정의 속도와 정확도를 크게 </a:t>
            </a:r>
            <a:r>
              <a:rPr lang="en-US" sz="900" dirty="0" err="1">
                <a:solidFill>
                  <a:srgbClr val="14213D"/>
                </a:solidFill>
                <a:latin typeface="+mj-ea"/>
                <a:ea typeface="+mj-ea"/>
              </a:rPr>
              <a:t>향상시킵니다</a:t>
            </a:r>
            <a:r>
              <a:rPr lang="en-US" sz="900" dirty="0">
                <a:solidFill>
                  <a:srgbClr val="14213D"/>
                </a:solidFill>
                <a:latin typeface="+mj-ea"/>
                <a:ea typeface="+mj-ea"/>
              </a:rPr>
              <a:t>.</a:t>
            </a:r>
          </a:p>
          <a:p>
            <a:pPr marL="0" indent="0">
              <a:buNone/>
            </a:pPr>
            <a:r>
              <a:rPr lang="en-US" sz="900" dirty="0">
                <a:solidFill>
                  <a:srgbClr val="14213D"/>
                </a:solidFill>
                <a:latin typeface="+mj-ea"/>
                <a:ea typeface="+mj-ea"/>
              </a:rPr>
              <a:t>
• 검증·신뢰성 기능과 지속 가능한 수익 구조는 플랫폼의 장기적 성공을 </a:t>
            </a:r>
            <a:r>
              <a:rPr lang="en-US" sz="900" dirty="0" err="1">
                <a:solidFill>
                  <a:srgbClr val="14213D"/>
                </a:solidFill>
                <a:latin typeface="+mj-ea"/>
                <a:ea typeface="+mj-ea"/>
              </a:rPr>
              <a:t>뒷받침합니다</a:t>
            </a:r>
            <a:r>
              <a:rPr lang="en-US" sz="900" dirty="0">
                <a:solidFill>
                  <a:srgbClr val="14213D"/>
                </a:solidFill>
                <a:latin typeface="+mj-ea"/>
                <a:ea typeface="+mj-ea"/>
              </a:rPr>
              <a:t>.</a:t>
            </a:r>
          </a:p>
          <a:p>
            <a:pPr marL="0" indent="0">
              <a:buNone/>
            </a:pPr>
            <a:endParaRPr lang="en-US" sz="900" dirty="0">
              <a:solidFill>
                <a:srgbClr val="14213D"/>
              </a:solidFill>
              <a:latin typeface="+mj-ea"/>
              <a:ea typeface="+mj-ea"/>
            </a:endParaRPr>
          </a:p>
          <a:p>
            <a:r>
              <a:rPr lang="en-US" altLang="ko-KR" sz="900" dirty="0">
                <a:solidFill>
                  <a:srgbClr val="14213D"/>
                </a:solidFill>
                <a:latin typeface="+mj-ea"/>
              </a:rPr>
              <a:t>• </a:t>
            </a:r>
            <a:r>
              <a:rPr lang="ko-KR" altLang="en-US" sz="900" dirty="0">
                <a:latin typeface="+mj-ea"/>
                <a:ea typeface="+mj-ea"/>
              </a:rPr>
              <a:t>초기 정부 지원을 통해 안정적인 인프라를 구축한 후</a:t>
            </a:r>
            <a:r>
              <a:rPr lang="en-US" altLang="ko-KR" sz="900" dirty="0">
                <a:latin typeface="+mj-ea"/>
                <a:ea typeface="+mj-ea"/>
              </a:rPr>
              <a:t>, </a:t>
            </a:r>
            <a:r>
              <a:rPr lang="ko-KR" altLang="en-US" sz="900" dirty="0">
                <a:latin typeface="+mj-ea"/>
                <a:ea typeface="+mj-ea"/>
              </a:rPr>
              <a:t>민간과 손잡고 지속가능한 고용 플랫폼으로 도약하는 것을 목표로 합니다</a:t>
            </a:r>
            <a:r>
              <a:rPr lang="en-US" altLang="ko-KR" sz="900" dirty="0">
                <a:latin typeface="+mj-ea"/>
                <a:ea typeface="+mj-ea"/>
              </a:rPr>
              <a:t>.</a:t>
            </a:r>
          </a:p>
          <a:p>
            <a:pPr marL="0" indent="0">
              <a:buNone/>
            </a:pPr>
            <a:endParaRPr lang="en-US" sz="900" dirty="0">
              <a:latin typeface="+mj-ea"/>
              <a:ea typeface="+mj-ea"/>
            </a:endParaRPr>
          </a:p>
        </p:txBody>
      </p:sp>
      <p:sp>
        <p:nvSpPr>
          <p:cNvPr id="4" name="Text 2"/>
          <p:cNvSpPr/>
          <p:nvPr/>
        </p:nvSpPr>
        <p:spPr>
          <a:xfrm>
            <a:off x="4937760" y="1005840"/>
            <a:ext cx="4114800" cy="2286000"/>
          </a:xfrm>
          <a:prstGeom prst="rect">
            <a:avLst/>
          </a:prstGeom>
          <a:noFill/>
          <a:ln/>
        </p:spPr>
        <p:txBody>
          <a:bodyPr wrap="square" rtlCol="0" anchor="ctr"/>
          <a:lstStyle/>
          <a:p>
            <a:pPr marL="0" indent="0">
              <a:buNone/>
            </a:pPr>
            <a:r>
              <a:rPr lang="en-US" sz="1200" b="1" dirty="0">
                <a:solidFill>
                  <a:srgbClr val="14213D"/>
                </a:solidFill>
              </a:rPr>
              <a:t>다음 단계
</a:t>
            </a:r>
            <a:r>
              <a:rPr lang="en-US" sz="900" dirty="0">
                <a:solidFill>
                  <a:srgbClr val="14213D"/>
                </a:solidFill>
              </a:rPr>
              <a:t>1. 최소 기능 제품(MVP)을 개발하여 사용자 테스트 실시
2. 번역 품질·매칭 정확도 평가를 위한 A/B 테스트 수행
3. 국내외 기업·기관과 파트너십 구축 및 서비스 홍보
4. 법·제도적 규제 검토 및 개인정보·비자 인증 프로세스 강화</a:t>
            </a:r>
            <a:endParaRPr lang="en-US" sz="1200" dirty="0"/>
          </a:p>
        </p:txBody>
      </p:sp>
      <p:sp>
        <p:nvSpPr>
          <p:cNvPr id="5" name="Text 3"/>
          <p:cNvSpPr/>
          <p:nvPr/>
        </p:nvSpPr>
        <p:spPr>
          <a:xfrm>
            <a:off x="457200" y="3657600"/>
            <a:ext cx="8229600" cy="731520"/>
          </a:xfrm>
          <a:prstGeom prst="rect">
            <a:avLst/>
          </a:prstGeom>
          <a:noFill/>
          <a:ln/>
        </p:spPr>
        <p:txBody>
          <a:bodyPr wrap="square" rtlCol="0" anchor="ctr"/>
          <a:lstStyle/>
          <a:p>
            <a:pPr marL="0" indent="0" algn="ctr">
              <a:buNone/>
            </a:pPr>
            <a:r>
              <a:rPr lang="en-US" sz="1000" i="1" dirty="0">
                <a:solidFill>
                  <a:srgbClr val="007C91"/>
                </a:solidFill>
              </a:rPr>
              <a:t>우리 플랫폼은 국경과 언어를 초월하여 새로운 가능성을 열어주는 핵심 인프라로 자리매김할 것입니다.</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TotalTime>
  <Words>1277</Words>
  <Application>Microsoft Office PowerPoint</Application>
  <PresentationFormat>사용자 지정</PresentationFormat>
  <Paragraphs>174</Paragraphs>
  <Slides>13</Slides>
  <Notes>13</Notes>
  <HiddenSlides>0</HiddenSlides>
  <MMClips>0</MMClips>
  <ScaleCrop>false</ScaleCrop>
  <HeadingPairs>
    <vt:vector size="6" baseType="variant">
      <vt:variant>
        <vt:lpstr>사용한 글꼴</vt:lpstr>
      </vt:variant>
      <vt:variant>
        <vt:i4>1</vt:i4>
      </vt:variant>
      <vt:variant>
        <vt:lpstr>테마</vt:lpstr>
      </vt:variant>
      <vt:variant>
        <vt:i4>1</vt:i4>
      </vt:variant>
      <vt:variant>
        <vt:lpstr>슬라이드 제목</vt:lpstr>
      </vt:variant>
      <vt:variant>
        <vt:i4>13</vt:i4>
      </vt:variant>
    </vt:vector>
  </HeadingPairs>
  <TitlesOfParts>
    <vt:vector size="15" baseType="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인결 이</cp:lastModifiedBy>
  <cp:revision>4</cp:revision>
  <dcterms:created xsi:type="dcterms:W3CDTF">2025-11-01T14:06:15Z</dcterms:created>
  <dcterms:modified xsi:type="dcterms:W3CDTF">2025-11-06T22:58:57Z</dcterms:modified>
</cp:coreProperties>
</file>