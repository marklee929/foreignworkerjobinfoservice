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1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글로벌 광고 성장률 (%)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6.7</c:v>
                </c:pt>
                <c:pt idx="1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71-4399-8A38-0D377E3D04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디지털 광고 성장률 (%)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10.5</c:v>
                </c:pt>
                <c:pt idx="1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71-4399-8A38-0D377E3D0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46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ntsu.com/news-releases/ad-spend-forecast-to-grow-by-four-point-nine-percent-in-2025-despite-a-reduced-economic-outlook#:~:text=,be%20algorithm%20driven%20by%202027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9BC2E6"/>
          </a:solidFill>
          <a:ln w="12700">
            <a:solidFill>
              <a:srgbClr val="9BC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F5597"/>
                </a:solidFill>
              </a:rPr>
              <a:t>스마트 랜딩페이지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2F5597"/>
                </a:solidFill>
              </a:rPr>
              <a:t>제작·관리·분석 서비스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광고 효율성을 높여주는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발표자: </a:t>
            </a:r>
            <a:r>
              <a:rPr lang="en-US" sz="1000" b="1" dirty="0">
                <a:solidFill>
                  <a:srgbClr val="555555"/>
                </a:solidFill>
              </a:rPr>
              <a:t>대표 이름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</a:rPr>
              <a:t>1. </a:t>
            </a:r>
            <a:r>
              <a:rPr lang="en-US" sz="1400" b="1" dirty="0">
                <a:solidFill>
                  <a:srgbClr val="051D3B"/>
                </a:solidFill>
              </a:rPr>
              <a:t>문제인식 (Problem)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개발 동기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목적 및 필요성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</a:rPr>
              <a:t>2. </a:t>
            </a:r>
            <a:r>
              <a:rPr lang="en-US" sz="1400" b="1" dirty="0">
                <a:solidFill>
                  <a:srgbClr val="051D3B"/>
                </a:solidFill>
              </a:rPr>
              <a:t>실현가능성 (Solution)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개발 방안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고객 요구 대응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</a:rPr>
              <a:t>3. </a:t>
            </a:r>
            <a:r>
              <a:rPr lang="en-US" sz="1400" b="1" dirty="0">
                <a:solidFill>
                  <a:srgbClr val="051D3B"/>
                </a:solidFill>
              </a:rPr>
              <a:t>성장전략 (Scale‑Up)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시장진입 및 성장전략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자금소요 및 조달계획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</a:rPr>
              <a:t>4. </a:t>
            </a:r>
            <a:r>
              <a:rPr lang="en-US" sz="1400" b="1" dirty="0">
                <a:solidFill>
                  <a:srgbClr val="051D3B"/>
                </a:solidFill>
              </a:rPr>
              <a:t>기업구성 (Team)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역량 및 기술보호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5597"/>
                </a:solidFill>
              </a:rPr>
              <a:t>    • </a:t>
            </a:r>
            <a:r>
              <a:rPr lang="en-US" sz="1000" dirty="0">
                <a:solidFill>
                  <a:srgbClr val="555555"/>
                </a:solidFill>
              </a:rPr>
              <a:t>사회적 가치 실천계획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문제인식 (Problem)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광고주의 랜딩페이지 제작과 관리에 따른 고충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0" y="640080"/>
            <a:ext cx="914400" cy="914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1691640"/>
            <a:ext cx="182880" cy="182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D3B"/>
                </a:solidFill>
              </a:rPr>
              <a:t>디자인 및 기술적 전문성 부족으로 높은 전환율의 랜딩페이지 제작이 어려움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2148840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D3B"/>
                </a:solidFill>
              </a:rPr>
              <a:t>기존 빌더는 디자인에 집중하여 제작·관리·분석 서비스가 부재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260604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D3B"/>
                </a:solidFill>
              </a:rPr>
              <a:t>코로나19 이후 온라인 소비 확대로 랜딩페이지의 역할이 더욱 중요해짐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실현가능성 (Solution)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랜딩페이지 제작·관리·분석을 아우르는 종합 서비스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" y="1554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5597"/>
                </a:solidFill>
              </a:rPr>
              <a:t>템플릿 제공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182880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목적별 템플릿으로 쉽게 제작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214884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설계 가이드로 최적 디자인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3720" y="1554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13760" y="1463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5597"/>
                </a:solidFill>
              </a:rPr>
              <a:t>분석·관리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093720" y="182880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고객정보 관리 및 리포트 제공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93720" y="214884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마케팅·광고와 연계한 전략 수립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5960" y="1554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6000" y="1463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5597"/>
                </a:solidFill>
              </a:rPr>
              <a:t>합리적 비용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775960" y="182880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월 만원대의 베이직 서비스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775960" y="214884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확장형 기능으로 비용 최소화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◇ 트래픽쉐어 광고 서비스와의 시너지로 광고 성과 극대화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시장 진입 및 기회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0640" y="1234440"/>
            <a:ext cx="182880" cy="182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949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2025년 글로벌 광고 지출은 9,920억 달러로 4.9% 성장할 전망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0640" y="1691640"/>
            <a:ext cx="182880" cy="1828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949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디지털 광고 지출은 7.9% 증가하여 678.7억 달러, 전체 광고의 68.4%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0640" y="2148840"/>
            <a:ext cx="182880" cy="1828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3949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알고리즘 기반 광고비가 2027년에는 전체의 78.1%까지 증가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2F5597"/>
                </a:solidFill>
                <a:hlinkClick r:id="rId6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주요 고객 타겟층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143000"/>
            <a:ext cx="164592" cy="164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온라인 마케팅 광고주의 90%를 차지하는 중소규모 사업자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508760"/>
            <a:ext cx="164592" cy="1645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고객정보 확보를 목적으로 CPA 광고를 진행하는 병원·보험·렌털서비스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874520"/>
            <a:ext cx="164592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CPA 광고를 이용하는 각종 가입형 광고주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240280"/>
            <a:ext cx="164592" cy="1645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724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광고를 진행하고 관리하는 광고대행사 및 마케팅 담당자</a:t>
            </a:r>
            <a:endParaRPr lang="en-US" sz="1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606040"/>
            <a:ext cx="164592" cy="16459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724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기능 확장을 원하는 광고주 및 서비스 업체</a:t>
            </a:r>
            <a:endParaRPr lang="en-US" sz="1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971800"/>
            <a:ext cx="164592" cy="16459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772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D2C 기업 등 초기 창업과 글로벌 확장을 목표로 하는 기업</a:t>
            </a:r>
            <a:endParaRPr lang="en-US" sz="1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3337560"/>
            <a:ext cx="164592" cy="16459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7724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중소벤처기업부 등 정부지원 마케팅 사업 운영 기관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전략 및 실행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내부 역량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" y="1417320"/>
            <a:ext cx="146304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대표의 콘텐츠 기획·개발 및 광고 플랫폼 운영 경험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" y="1737360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우수한 CTO를 통한 기술력 확보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" y="2057400"/>
            <a:ext cx="146304" cy="1463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자체 SEO·분석 솔루션으로 고객에게 차별화 제공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0632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마케팅 전략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528" y="1417320"/>
            <a:ext cx="146304" cy="1463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61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등록제품 및 제휴 파트너와의 공동 마케팅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528" y="1737360"/>
            <a:ext cx="146304" cy="1463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2461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20만 광고주 커뮤니티를 활용한 바이럴 마케팅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528" y="2057400"/>
            <a:ext cx="146304" cy="14630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2461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기존 트래픽 쉐어 기반의 무료 광고 제공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58064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해외 진출</a:t>
            </a:r>
            <a:endParaRPr lang="en-US" sz="16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728" y="1417320"/>
            <a:ext cx="146304" cy="14630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9893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D2C 기업 대상 타깃팅하여 미국 시장 공략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728" y="1737360"/>
            <a:ext cx="146304" cy="14630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9893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카페24 등 중국 플랫폼과 협력하여 시장 진출</a:t>
            </a:r>
            <a:endParaRPr lang="en-US" sz="10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728" y="2057400"/>
            <a:ext cx="146304" cy="14630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9893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글로벌 광고 시스템을 가진 파트너와 협업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성장전략 (Scale‑Up): 자금소요 및 조달계획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세부내역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외주용역비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개발 및 디자인 외주 비용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무형자산 취득비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SaaS 라이선스 및 인증서비스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지급수수료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결제·플랫폼 이용 수수료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인건비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개발자·디자이너 인건비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광고·선전비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마케팅 및 프로모션 비용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9728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조달원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예상금액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정부지원금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자기자금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민간투자금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정부자금 지원: </a:t>
            </a:r>
            <a:r>
              <a:rPr lang="en-US" sz="1000" dirty="0">
                <a:solidFill>
                  <a:srgbClr val="051D3B"/>
                </a:solidFill>
              </a:rPr>
              <a:t>창업패키지, R&amp;D 및 사업화 자금 확보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민간투자 유치: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벤처캐피탈과 TIPS 프로그램을 통한 선투자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· 자체 매출로 운영비 충당 및 성장 기반 마련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기업구성 (Team)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대표 / CEO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20년 이상 기획·마케팅 전문가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비즈니스 콘텐츠 플랫폼 운영 경험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광고 시스템 기획 및 PM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1360" y="1097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1856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CTO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261360" y="146304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컴퓨터공학 전공, 6년 이상 개발 경력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61360" y="178308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대규모 시스템 개발·운영 경험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261360" y="210312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기술 보호와 보안에 대한 책임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5520" y="1097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2272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신규 채용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065520" y="146304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개발자: PHP/MySQL 개발 경험 2년 이상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065520" y="178308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디자이너: 웹·모바일 코딩 가능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065520" y="210312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추가 인력 확보로 사업 확장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351877"/>
              </p:ext>
            </p:extLst>
          </p:nvPr>
        </p:nvGraphicFramePr>
        <p:xfrm>
          <a:off x="457200" y="2646145"/>
          <a:ext cx="8229600" cy="1219200"/>
        </p:xfrm>
        <a:graphic>
          <a:graphicData uri="http://schemas.openxmlformats.org/drawingml/2006/table">
            <a:tbl>
              <a:tblPr/>
              <a:tblGrid>
                <a:gridCol w="565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순번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파트너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역할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마케팅·콘텐츠 전문 업체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마케팅 협력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대형 광고대행사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고객사 모집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No.1 광고주 커뮤니티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20만 광고주 회원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솔루션 개발사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1D3B"/>
                          </a:solidFill>
                        </a:rPr>
                        <a:t>SEO 솔루션 개발·적용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내부 기술 보호 및 교육으로 경쟁력 확보
</a:t>
            </a:r>
            <a:r>
              <a:rPr lang="en-US" sz="1000" dirty="0">
                <a:solidFill>
                  <a:srgbClr val="051D3B"/>
                </a:solidFill>
              </a:rPr>
              <a:t>· 외주 계약 시 엄격한 비밀유지 및 기술 보호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· 적극적인 지식재산권 등록과 정부 지원 제도 활용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사회적 가치 실천 및 결론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597"/>
                </a:solidFill>
              </a:rPr>
              <a:t>· 직원과 함께 성장하는 기업문화 구축
</a:t>
            </a:r>
            <a:r>
              <a:rPr lang="en-US" sz="1000" dirty="0">
                <a:solidFill>
                  <a:srgbClr val="051D3B"/>
                </a:solidFill>
              </a:rPr>
              <a:t>직원들의 역량 개발과 상생을 중시하며 지속가능한 성장을 추구합니다.
</a:t>
            </a:r>
            <a:r>
              <a:rPr lang="en-US" sz="1000" b="1" dirty="0">
                <a:solidFill>
                  <a:srgbClr val="2F5597"/>
                </a:solidFill>
              </a:rPr>
              <a:t>· 사회적 책임과 환경적 가치를 실현
</a:t>
            </a:r>
            <a:r>
              <a:rPr lang="en-US" sz="1000" dirty="0">
                <a:solidFill>
                  <a:srgbClr val="051D3B"/>
                </a:solidFill>
              </a:rPr>
              <a:t>사업 성공과 동시에 지역사회 공헌 및 친환경 정책을 적극 추진합니다.
</a:t>
            </a:r>
            <a:r>
              <a:rPr lang="en-US" sz="1000" b="1" dirty="0">
                <a:solidFill>
                  <a:srgbClr val="2F5597"/>
                </a:solidFill>
              </a:rPr>
              <a:t>· 함께 만들어 갈 미래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51D3B"/>
                </a:solidFill>
              </a:rPr>
              <a:t>우리는 고객, 파트너, 직원과 함께 지속 가능하고 혁신적인 디지털 광고 생태계를 만들어 갑니다.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화면 슬라이드 쇼(16:9)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인결 이</cp:lastModifiedBy>
  <cp:revision>2</cp:revision>
  <dcterms:created xsi:type="dcterms:W3CDTF">2025-10-02T10:37:12Z</dcterms:created>
  <dcterms:modified xsi:type="dcterms:W3CDTF">2025-10-02T11:02:59Z</dcterms:modified>
</cp:coreProperties>
</file>