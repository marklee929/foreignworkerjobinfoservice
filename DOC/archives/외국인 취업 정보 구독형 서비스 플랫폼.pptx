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58" r:id="rId6"/>
    <p:sldId id="268" r:id="rId7"/>
    <p:sldId id="269" r:id="rId8"/>
    <p:sldId id="259" r:id="rId9"/>
    <p:sldId id="270" r:id="rId10"/>
    <p:sldId id="271" r:id="rId11"/>
    <p:sldId id="272" r:id="rId12"/>
    <p:sldId id="260" r:id="rId13"/>
    <p:sldId id="273" r:id="rId14"/>
    <p:sldId id="274" r:id="rId15"/>
    <p:sldId id="264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6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46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BE4A5-F3B3-D528-BC8C-AF064B28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B3C0C-AB5A-388B-7815-EFC820DCD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3F525-5C56-8E94-4894-8A0AA0F20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5340E-3F39-E6CF-6C22-18266C5DF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32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12DC-5622-1800-2837-08AA9B16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0796A-7A4D-2A32-771D-A4A84B1C6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37AA2-753C-2C69-B76F-B470BD845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27B96-1E79-B7B2-7C23-BC8BB8ACB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87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8D52-B9C6-CE73-FAEA-C9F8A1F9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9BE1A-1ADF-8743-35AD-3BBA2163D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A98F9-64A9-AD5B-392D-C0AA80A85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91D2-1DC8-F50D-0D1A-F10606917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52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306EF-AEAA-D345-77F4-E4914FC5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22AB-8103-B163-8574-D1219130B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7527D-8731-C3F5-16F7-DAE833C56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2B39E-7225-DCF9-9999-F1E90A763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55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9CC9-6E6A-8A7C-A91A-62FDDB9A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364A5-2ABE-CA42-9B0B-01D9F5954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DCFF6-631D-5E87-A5BD-F6CB4B605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058E9-B2DB-979B-DD83-35482CA5E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09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0248-1764-4164-A028-13593A47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3C780-EB35-0974-350F-3F0D3ABD7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DC753-9F94-D83E-8321-92212797F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F6443-97A2-09C5-9FD2-15F8601F5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20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B068-E9BD-5DC8-1600-C8F693D0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2CA56-B384-D3A1-6696-858C3AF5A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C1610-0259-7FA0-76B5-94E5C9AB3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6230B-93F8-390F-E309-C4D7AD4DF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8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E99D-F4BF-C0EC-61D8-837B1A55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EAEC-7949-1769-0F26-CFD47661C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E8CF5-9629-125F-3F8F-7FE5F8947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336E-BF04-1DDC-4B28-1DFEC0259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65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B5FA-784B-4F04-0416-0C0BDCEF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4C65B-1915-E8F8-351C-EAC1840A9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696F0-4ACE-EB33-D939-DCFB57482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FE990-99F2-5158-BEBF-937157268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37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v.daum.net/v/20251012175005438?utm_source=chatgpt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piie.com/sites/default/files/2024-07/wp24-18.pdf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is.org/publ/bppdf/bispap100_m.pdf" TargetMode="External"/><Relationship Id="rId5" Type="http://schemas.openxmlformats.org/officeDocument/2006/relationships/hyperlink" Target="https://www.chosun.com/economy/economy_general/2024/12/18/JKOX4NEQRZEUBNSQQAH3YZFK5M?utm_source=chatgpt.com" TargetMode="External"/><Relationship Id="rId4" Type="http://schemas.openxmlformats.org/officeDocument/2006/relationships/image" Target="../media/image2.svg"/><Relationship Id="rId9" Type="http://schemas.openxmlformats.org/officeDocument/2006/relationships/hyperlink" Target="https://www.shippingnewsnet.com/news/articleView.html?idxno=64261&amp;utm_source=chatgpt.com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1099632?utm_source=chatgpt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equityhealthj.biomedcentral.com/articles/10.1186/s12939-024-02126-2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uters.com/world/asia-pacific/deadly-battery-plant-fire-highlights-risks-south-koreas-migrant-workers-2024-06-25?utm_source=chatgpt.com" TargetMode="External"/><Relationship Id="rId5" Type="http://schemas.openxmlformats.org/officeDocument/2006/relationships/hyperlink" Target="https://www.hankyung.com/article/2025082633091?utm_source=chatgpt.com" TargetMode="Externa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han.co.kr/article/202412031513001?utm_source=chatgpt.com" TargetMode="Externa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ntsu.com/news-releases/ad-spend-forecast-to-grow-by-four-point-nine-percent-in-2025-despite-a-reduced-economic-outlook#:~:text=,be%20algorithm%20driven%20by%20202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ntsu.com/news-releases/ad-spend-forecast-to-grow-by-four-point-nine-percent-in-2025-despite-a-reduced-economic-outlook#:~:text=,be%20algorithm%20driven%20by%202027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ntsu.com/news-releases/ad-spend-forecast-to-grow-by-four-point-nine-percent-in-2025-despite-a-reduced-economic-outlook#:~:text=,be%20algorithm%20driven%20by%20202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9BC2E6"/>
          </a:solidFill>
          <a:ln w="12700">
            <a:solidFill>
              <a:srgbClr val="9BC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3200" b="1" dirty="0"/>
              <a:t>외국인 취업정보 구독 서비스</a:t>
            </a:r>
            <a:endParaRPr lang="en-US" sz="3200" b="1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“</a:t>
            </a:r>
            <a:r>
              <a:rPr lang="en-US" altLang="ko-KR" sz="1600" dirty="0"/>
              <a:t>Work Connect Korea” – </a:t>
            </a:r>
            <a:r>
              <a:rPr lang="ko-KR" altLang="en-US" sz="1600" dirty="0"/>
              <a:t>다국어 기반 외국인 취업 구독 플랫폼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발표자: </a:t>
            </a:r>
            <a:r>
              <a:rPr lang="en-US" altLang="ko-KR" sz="1000" b="1" dirty="0">
                <a:solidFill>
                  <a:srgbClr val="555555"/>
                </a:solidFill>
              </a:rPr>
              <a:t>-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434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/>
              <a:t>🎯 </a:t>
            </a:r>
            <a:r>
              <a:rPr lang="en-US" altLang="ko-KR" sz="1400" b="1" dirty="0"/>
              <a:t>1. </a:t>
            </a:r>
            <a:r>
              <a:rPr lang="ko-KR" altLang="en-US" sz="1400" b="1" dirty="0"/>
              <a:t>문제 인식 </a:t>
            </a:r>
            <a:r>
              <a:rPr lang="en-US" altLang="ko-KR" sz="1400" b="1" dirty="0"/>
              <a:t>(Problem)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중소기업의 외국인 인력난 심화</a:t>
            </a:r>
            <a:r>
              <a:rPr lang="ko-KR" altLang="en-US" sz="1000" dirty="0"/>
              <a:t> </a:t>
            </a:r>
            <a:r>
              <a:rPr lang="en-US" altLang="ko-KR" sz="1000" dirty="0"/>
              <a:t>— 3D </a:t>
            </a:r>
            <a:r>
              <a:rPr lang="ko-KR" altLang="en-US" sz="1000" dirty="0"/>
              <a:t>업종 중심으로 숙련인력 부족 지속</a:t>
            </a:r>
            <a:endParaRPr lang="en-US" altLang="ko-KR" sz="1000" dirty="0"/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정보 접근성 문제</a:t>
            </a:r>
            <a:r>
              <a:rPr lang="ko-KR" altLang="en-US" sz="1000" dirty="0"/>
              <a:t> </a:t>
            </a:r>
            <a:r>
              <a:rPr lang="en-US" altLang="ko-KR" sz="1000" dirty="0"/>
              <a:t>— </a:t>
            </a:r>
            <a:r>
              <a:rPr lang="ko-KR" altLang="en-US" sz="1000" dirty="0"/>
              <a:t>채용 정보가 파편화되고 언어 장벽으로 실질 접근이 어려움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불법 알선 및 정보 비대칭</a:t>
            </a:r>
            <a:r>
              <a:rPr lang="ko-KR" altLang="en-US" sz="1000" dirty="0"/>
              <a:t> </a:t>
            </a:r>
            <a:r>
              <a:rPr lang="en-US" altLang="ko-KR" sz="1000" dirty="0"/>
              <a:t>— </a:t>
            </a:r>
            <a:r>
              <a:rPr lang="ko-KR" altLang="en-US" sz="1000" dirty="0"/>
              <a:t>신뢰 가능한 취업정보 플랫폼의 부재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기존 취업 포털의 한계</a:t>
            </a:r>
            <a:r>
              <a:rPr lang="ko-KR" altLang="en-US" sz="1000" dirty="0"/>
              <a:t> </a:t>
            </a:r>
            <a:r>
              <a:rPr lang="en-US" altLang="ko-KR" sz="1000" dirty="0"/>
              <a:t>— </a:t>
            </a:r>
            <a:r>
              <a:rPr lang="ko-KR" altLang="en-US" sz="1000" dirty="0"/>
              <a:t>다국어 번역</a:t>
            </a:r>
            <a:r>
              <a:rPr lang="en-US" altLang="ko-KR" sz="1000" dirty="0"/>
              <a:t>, </a:t>
            </a:r>
            <a:r>
              <a:rPr lang="ko-KR" altLang="en-US" sz="1000" dirty="0"/>
              <a:t>비자</a:t>
            </a:r>
            <a:r>
              <a:rPr lang="en-US" altLang="ko-KR" sz="1000" dirty="0"/>
              <a:t>/</a:t>
            </a:r>
            <a:r>
              <a:rPr lang="ko-KR" altLang="en-US" sz="1000" dirty="0"/>
              <a:t>노무정보</a:t>
            </a:r>
            <a:r>
              <a:rPr lang="en-US" altLang="ko-KR" sz="1000" dirty="0"/>
              <a:t>, </a:t>
            </a:r>
            <a:r>
              <a:rPr lang="ko-KR" altLang="en-US" sz="1000" dirty="0"/>
              <a:t>실제 취업 연계 부족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43459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/>
              <a:t>💡 </a:t>
            </a:r>
            <a:r>
              <a:rPr lang="en-US" altLang="ko-KR" sz="1400" b="1" dirty="0"/>
              <a:t>2. </a:t>
            </a:r>
            <a:r>
              <a:rPr lang="ko-KR" altLang="en-US" sz="1400" b="1" dirty="0"/>
              <a:t>실현 가능성 </a:t>
            </a:r>
            <a:r>
              <a:rPr lang="en-US" altLang="ko-KR" sz="1400" b="1" dirty="0"/>
              <a:t>(Solution)</a:t>
            </a:r>
            <a:endParaRPr lang="en-US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DBA57-3BD8-7014-2823-B638E27BA921}"/>
              </a:ext>
            </a:extLst>
          </p:cNvPr>
          <p:cNvSpPr txBox="1"/>
          <p:nvPr/>
        </p:nvSpPr>
        <p:spPr>
          <a:xfrm>
            <a:off x="640080" y="270220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b="1" dirty="0">
                <a:latin typeface="+mn-ea"/>
              </a:rPr>
              <a:t>핵심 기능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데이터 수집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공공 </a:t>
            </a:r>
            <a:r>
              <a:rPr lang="en-US" altLang="ko-KR" sz="1000" dirty="0">
                <a:latin typeface="+mn-ea"/>
              </a:rPr>
              <a:t>API + </a:t>
            </a:r>
            <a:r>
              <a:rPr lang="ko-KR" altLang="en-US" sz="1000" dirty="0">
                <a:latin typeface="+mn-ea"/>
              </a:rPr>
              <a:t>민간 채용 사이트 </a:t>
            </a:r>
            <a:r>
              <a:rPr lang="ko-KR" altLang="en-US" sz="1000" dirty="0" err="1">
                <a:latin typeface="+mn-ea"/>
              </a:rPr>
              <a:t>크롤링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다국어 번역 큐레이션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문서 단위 자동 번역 및 </a:t>
            </a:r>
            <a:r>
              <a:rPr lang="ko-KR" altLang="en-US" sz="1000" dirty="0" err="1">
                <a:latin typeface="+mn-ea"/>
              </a:rPr>
              <a:t>캐싱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배포 및 참여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뉴스레터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메신저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전문가 상담 자동화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BF708-419C-1DC6-A52F-714C582D3F72}"/>
              </a:ext>
            </a:extLst>
          </p:cNvPr>
          <p:cNvSpPr txBox="1"/>
          <p:nvPr/>
        </p:nvSpPr>
        <p:spPr>
          <a:xfrm>
            <a:off x="640080" y="3336005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altLang="ko-KR" sz="1000" b="1" dirty="0">
              <a:latin typeface="+mn-ea"/>
            </a:endParaRPr>
          </a:p>
          <a:p>
            <a:pPr>
              <a:buNone/>
            </a:pPr>
            <a:r>
              <a:rPr lang="ko-KR" altLang="en-US" sz="1000" b="1" dirty="0">
                <a:latin typeface="+mn-ea"/>
              </a:rPr>
              <a:t>기술 구조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번역 결과 </a:t>
            </a:r>
            <a:r>
              <a:rPr lang="ko-KR" altLang="en-US" sz="1000" dirty="0" err="1">
                <a:latin typeface="+mn-ea"/>
              </a:rPr>
              <a:t>캐싱</a:t>
            </a:r>
            <a:r>
              <a:rPr lang="ko-KR" altLang="en-US" sz="1000" dirty="0">
                <a:latin typeface="+mn-ea"/>
              </a:rPr>
              <a:t> → 처리 비용 절감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배치 스케줄러 → 주기적 데이터 갱신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>
                <a:latin typeface="+mn-ea"/>
              </a:rPr>
              <a:t>e-</a:t>
            </a:r>
            <a:r>
              <a:rPr lang="ko-KR" altLang="en-US" sz="1000" dirty="0">
                <a:latin typeface="+mn-ea"/>
              </a:rPr>
              <a:t>지갑 및 </a:t>
            </a:r>
            <a:r>
              <a:rPr lang="en-US" altLang="ko-KR" sz="1000" dirty="0">
                <a:latin typeface="+mn-ea"/>
              </a:rPr>
              <a:t>API → B2B </a:t>
            </a:r>
            <a:r>
              <a:rPr lang="ko-KR" altLang="en-US" sz="1000" dirty="0">
                <a:latin typeface="+mn-ea"/>
              </a:rPr>
              <a:t>파트너십 지원</a:t>
            </a:r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r>
              <a:rPr lang="ko-KR" altLang="en-US" sz="1000" b="1" dirty="0"/>
              <a:t>자동화 운영 플로우</a:t>
            </a:r>
            <a:endParaRPr lang="en-US" altLang="ko-KR" sz="1000" b="1" dirty="0"/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수집 → 처리 </a:t>
            </a:r>
            <a:r>
              <a:rPr lang="en-US" altLang="ko-KR" sz="1000" dirty="0">
                <a:latin typeface="+mn-ea"/>
              </a:rPr>
              <a:t>→ </a:t>
            </a:r>
            <a:r>
              <a:rPr lang="ko-KR" altLang="en-US" sz="1000" dirty="0">
                <a:latin typeface="+mn-ea"/>
              </a:rPr>
              <a:t>배포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→ 피드백 → 모니터링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6578-4B28-7C4A-A10C-F324B742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6DDA2E-6648-C1D8-DA08-62D3B31CADC5}"/>
              </a:ext>
            </a:extLst>
          </p:cNvPr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목차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940895-8345-2A63-CAD9-57CA197A34AF}"/>
              </a:ext>
            </a:extLst>
          </p:cNvPr>
          <p:cNvSpPr/>
          <p:nvPr/>
        </p:nvSpPr>
        <p:spPr>
          <a:xfrm>
            <a:off x="640080" y="8899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/>
              <a:t>🚀 </a:t>
            </a:r>
            <a:r>
              <a:rPr lang="en-US" altLang="ko-KR" sz="1400" b="1" dirty="0"/>
              <a:t>3. </a:t>
            </a:r>
            <a:r>
              <a:rPr lang="ko-KR" altLang="en-US" sz="1400" b="1" dirty="0"/>
              <a:t>성장 전략 </a:t>
            </a:r>
            <a:r>
              <a:rPr lang="en-US" altLang="ko-KR" sz="1400" b="1" dirty="0"/>
              <a:t>(Scale-Up)</a:t>
            </a:r>
            <a:endParaRPr lang="en-US" sz="14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8CECFE-EDE9-0DCA-6FA9-E91E41FCB99C}"/>
              </a:ext>
            </a:extLst>
          </p:cNvPr>
          <p:cNvSpPr/>
          <p:nvPr/>
        </p:nvSpPr>
        <p:spPr>
          <a:xfrm>
            <a:off x="640080" y="2169427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/>
              <a:t>시장 진입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초기 </a:t>
            </a:r>
            <a:r>
              <a:rPr lang="en-US" altLang="ko-KR" sz="1000" b="1" dirty="0"/>
              <a:t>(2025-Q1~Q2)</a:t>
            </a:r>
            <a:r>
              <a:rPr lang="en-US" altLang="ko-KR" sz="1000" dirty="0"/>
              <a:t>: </a:t>
            </a:r>
            <a:r>
              <a:rPr lang="ko-KR" altLang="en-US" sz="1000" dirty="0"/>
              <a:t>로컬 </a:t>
            </a:r>
            <a:r>
              <a:rPr lang="en-US" altLang="ko-KR" sz="1000" dirty="0"/>
              <a:t>MVP </a:t>
            </a:r>
            <a:r>
              <a:rPr lang="ko-KR" altLang="en-US" sz="1000" dirty="0"/>
              <a:t>개발 </a:t>
            </a:r>
            <a:r>
              <a:rPr lang="en-US" altLang="ko-KR" sz="1000" dirty="0"/>
              <a:t>+ </a:t>
            </a:r>
            <a:r>
              <a:rPr lang="ko-KR" altLang="en-US" sz="1000" dirty="0"/>
              <a:t>다국어 통합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중기 </a:t>
            </a:r>
            <a:r>
              <a:rPr lang="en-US" altLang="ko-KR" sz="1000" b="1" dirty="0"/>
              <a:t>(2025-Q3~Q4)</a:t>
            </a:r>
            <a:r>
              <a:rPr lang="en-US" altLang="ko-KR" sz="1000" dirty="0"/>
              <a:t>: </a:t>
            </a:r>
            <a:r>
              <a:rPr lang="ko-KR" altLang="en-US" sz="1000" dirty="0"/>
              <a:t>동남아 </a:t>
            </a:r>
            <a:r>
              <a:rPr lang="en-US" altLang="ko-KR" sz="1000" dirty="0"/>
              <a:t>B2B·</a:t>
            </a:r>
            <a:r>
              <a:rPr lang="ko-KR" altLang="en-US" sz="1000" dirty="0"/>
              <a:t>기관 제휴</a:t>
            </a:r>
            <a:r>
              <a:rPr lang="en-US" altLang="ko-KR" sz="1000" dirty="0"/>
              <a:t>, </a:t>
            </a:r>
            <a:r>
              <a:rPr lang="ko-KR" altLang="en-US" sz="1000" dirty="0"/>
              <a:t>광고 모델 구축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/>
              <a:t>장기 </a:t>
            </a:r>
            <a:r>
              <a:rPr lang="en-US" altLang="ko-KR" sz="1000" b="1" dirty="0"/>
              <a:t>(2026~)</a:t>
            </a:r>
            <a:r>
              <a:rPr lang="en-US" altLang="ko-KR" sz="1000" dirty="0"/>
              <a:t>: </a:t>
            </a:r>
            <a:r>
              <a:rPr lang="ko-KR" altLang="en-US" sz="1000" dirty="0"/>
              <a:t>글로벌 확장</a:t>
            </a:r>
            <a:r>
              <a:rPr lang="en-US" altLang="ko-KR" sz="1000" dirty="0"/>
              <a:t>, </a:t>
            </a:r>
            <a:r>
              <a:rPr lang="ko-KR" altLang="en-US" sz="1000" dirty="0"/>
              <a:t>플랫폼화</a:t>
            </a:r>
          </a:p>
          <a:p>
            <a:endParaRPr lang="en-US" altLang="ko-KR" sz="1000" b="1" dirty="0"/>
          </a:p>
          <a:p>
            <a:r>
              <a:rPr lang="ko-KR" altLang="en-US" sz="1000" b="1" dirty="0"/>
              <a:t>마케팅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 err="1"/>
              <a:t>GrabAds</a:t>
            </a:r>
            <a:r>
              <a:rPr lang="en-US" altLang="ko-KR" sz="1000" dirty="0"/>
              <a:t>, SNS, </a:t>
            </a:r>
            <a:r>
              <a:rPr lang="ko-KR" altLang="en-US" sz="1000" dirty="0"/>
              <a:t>로컬 플랫폼 광고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/>
              <a:t>현지 인력사무소</a:t>
            </a:r>
            <a:r>
              <a:rPr lang="en-US" altLang="ko-KR" sz="1000" dirty="0"/>
              <a:t>·</a:t>
            </a:r>
            <a:r>
              <a:rPr lang="ko-KR" altLang="en-US" sz="1000" dirty="0"/>
              <a:t>학교</a:t>
            </a:r>
            <a:r>
              <a:rPr lang="en-US" altLang="ko-KR" sz="1000" dirty="0"/>
              <a:t>·</a:t>
            </a:r>
            <a:r>
              <a:rPr lang="ko-KR" altLang="en-US" sz="1000" dirty="0"/>
              <a:t>노무사 협력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/>
              <a:t>무료 뉴스레터 → 유료 </a:t>
            </a:r>
            <a:r>
              <a:rPr lang="ko-KR" altLang="en-US" sz="1000" dirty="0" err="1"/>
              <a:t>업셀링</a:t>
            </a:r>
            <a:r>
              <a:rPr lang="ko-KR" altLang="en-US" sz="1000" dirty="0"/>
              <a:t> 유도</a:t>
            </a:r>
          </a:p>
          <a:p>
            <a:endParaRPr lang="en-US" altLang="ko-KR" sz="1000" b="1" dirty="0"/>
          </a:p>
          <a:p>
            <a:r>
              <a:rPr lang="ko-KR" altLang="en-US" sz="1000" b="1" dirty="0"/>
              <a:t>수익모델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/>
              <a:t>Entry ₩1K–2K (</a:t>
            </a:r>
            <a:r>
              <a:rPr lang="ko-KR" altLang="en-US" sz="1000" dirty="0"/>
              <a:t>기본 정보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/>
              <a:t>Standard ₩5K (</a:t>
            </a:r>
            <a:r>
              <a:rPr lang="ko-KR" altLang="en-US" sz="1000" dirty="0"/>
              <a:t>산업별 큐레이션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/>
              <a:t>Premium ₩20K–50K (</a:t>
            </a:r>
            <a:r>
              <a:rPr lang="ko-KR" altLang="en-US" sz="1000" dirty="0"/>
              <a:t>전문가 상담</a:t>
            </a:r>
            <a:r>
              <a:rPr lang="en-US" altLang="ko-KR" sz="1000" dirty="0"/>
              <a:t>·</a:t>
            </a:r>
            <a:r>
              <a:rPr lang="ko-KR" altLang="en-US" sz="1000" dirty="0"/>
              <a:t>세미나</a:t>
            </a:r>
            <a:r>
              <a:rPr lang="en-US" altLang="ko-KR" sz="1000" dirty="0"/>
              <a:t>)</a:t>
            </a:r>
            <a:r>
              <a:rPr lang="en-US" sz="1000" dirty="0">
                <a:solidFill>
                  <a:srgbClr val="2F5597"/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5677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A0D8-50DA-0403-67A7-3417F267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B21B43-3D03-FDBD-9CD7-1749E179B933}"/>
              </a:ext>
            </a:extLst>
          </p:cNvPr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목차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F30023-8CB0-842F-82CC-358EEE8B9DFE}"/>
              </a:ext>
            </a:extLst>
          </p:cNvPr>
          <p:cNvSpPr/>
          <p:nvPr/>
        </p:nvSpPr>
        <p:spPr>
          <a:xfrm>
            <a:off x="553907" y="960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/>
              <a:t>👥 </a:t>
            </a:r>
            <a:r>
              <a:rPr lang="en-US" altLang="ko-KR" sz="1400" dirty="0"/>
              <a:t>4. </a:t>
            </a:r>
            <a:r>
              <a:rPr lang="ko-KR" altLang="en-US" sz="1400" dirty="0"/>
              <a:t>기업 구성 </a:t>
            </a:r>
            <a:r>
              <a:rPr lang="en-US" altLang="ko-KR" sz="1400" dirty="0"/>
              <a:t>(Team)</a:t>
            </a:r>
            <a:endParaRPr lang="en-US" sz="1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CC83EB7-3119-2E28-8186-F7A3C7284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61201"/>
              </p:ext>
            </p:extLst>
          </p:nvPr>
        </p:nvGraphicFramePr>
        <p:xfrm>
          <a:off x="553907" y="1239615"/>
          <a:ext cx="5896907" cy="1219200"/>
        </p:xfrm>
        <a:graphic>
          <a:graphicData uri="http://schemas.openxmlformats.org/drawingml/2006/table">
            <a:tbl>
              <a:tblPr/>
              <a:tblGrid>
                <a:gridCol w="1005597">
                  <a:extLst>
                    <a:ext uri="{9D8B030D-6E8A-4147-A177-3AD203B41FA5}">
                      <a16:colId xmlns:a16="http://schemas.microsoft.com/office/drawing/2014/main" val="1202240105"/>
                    </a:ext>
                  </a:extLst>
                </a:gridCol>
                <a:gridCol w="2782111">
                  <a:extLst>
                    <a:ext uri="{9D8B030D-6E8A-4147-A177-3AD203B41FA5}">
                      <a16:colId xmlns:a16="http://schemas.microsoft.com/office/drawing/2014/main" val="1721074841"/>
                    </a:ext>
                  </a:extLst>
                </a:gridCol>
                <a:gridCol w="2109199">
                  <a:extLst>
                    <a:ext uri="{9D8B030D-6E8A-4147-A177-3AD203B41FA5}">
                      <a16:colId xmlns:a16="http://schemas.microsoft.com/office/drawing/2014/main" val="87387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역량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주요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6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000" b="1" dirty="0">
                          <a:latin typeface="+mn-ea"/>
                          <a:ea typeface="+mn-ea"/>
                        </a:rPr>
                        <a:t>CEO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글로벌 취업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·AI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번역 프로젝트 경험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비즈니스 전략 및 마케팅 총괄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06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+mn-ea"/>
                          <a:ea typeface="+mn-ea"/>
                        </a:rPr>
                        <a:t>CTO</a:t>
                      </a:r>
                      <a:endParaRPr lang="en-US" sz="10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latin typeface="+mn-ea"/>
                          <a:ea typeface="+mn-ea"/>
                        </a:rPr>
                        <a:t>Python·Django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기반 데이터 파이프라인 설계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자동화 크롤러 및 번역엔진 구축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17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ea"/>
                          <a:ea typeface="+mn-ea"/>
                        </a:rPr>
                        <a:t>콘텐츠 </a:t>
                      </a:r>
                      <a:r>
                        <a:rPr lang="en-US" sz="1000" b="1">
                          <a:latin typeface="+mn-ea"/>
                          <a:ea typeface="+mn-ea"/>
                        </a:rPr>
                        <a:t>PM</a:t>
                      </a:r>
                      <a:endParaRPr lang="en-US" sz="10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다국어 콘텐츠 기획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SNS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운영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지역별 뉴스레터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미디어 운영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76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>
                          <a:latin typeface="+mn-ea"/>
                          <a:ea typeface="+mn-ea"/>
                        </a:rPr>
                        <a:t>제휴 담당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학교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노무사 네트워크 관리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B2B·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기관 협력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현지 확장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991327"/>
                  </a:ext>
                </a:extLst>
              </a:tr>
            </a:tbl>
          </a:graphicData>
        </a:graphic>
      </p:graphicFrame>
      <p:sp>
        <p:nvSpPr>
          <p:cNvPr id="3" name="Text 10">
            <a:extLst>
              <a:ext uri="{FF2B5EF4-FFF2-40B4-BE49-F238E27FC236}">
                <a16:creationId xmlns:a16="http://schemas.microsoft.com/office/drawing/2014/main" id="{4F8ED800-5FE5-491E-F762-CB6B639A6AD6}"/>
              </a:ext>
            </a:extLst>
          </p:cNvPr>
          <p:cNvSpPr/>
          <p:nvPr/>
        </p:nvSpPr>
        <p:spPr>
          <a:xfrm>
            <a:off x="553907" y="2764185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/>
              <a:t>🌍 </a:t>
            </a:r>
            <a:r>
              <a:rPr lang="en-US" altLang="ko-KR" sz="1400" dirty="0"/>
              <a:t>5. </a:t>
            </a:r>
            <a:r>
              <a:rPr lang="ko-KR" altLang="en-US" sz="1400" dirty="0"/>
              <a:t>사회적 가치 및 확장성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21ECD-C0A3-4202-6D81-08537C7BB0D3}"/>
              </a:ext>
            </a:extLst>
          </p:cNvPr>
          <p:cNvSpPr txBox="1"/>
          <p:nvPr/>
        </p:nvSpPr>
        <p:spPr>
          <a:xfrm>
            <a:off x="553907" y="3056593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합법적 취업 중개</a:t>
            </a:r>
            <a:r>
              <a:rPr lang="ko-KR" altLang="en-US" sz="1000" dirty="0">
                <a:latin typeface="+mn-ea"/>
              </a:rPr>
              <a:t>로 불법 알선 구조 해소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정보 평등 실현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— </a:t>
            </a:r>
            <a:r>
              <a:rPr lang="ko-KR" altLang="en-US" sz="1000" dirty="0">
                <a:latin typeface="+mn-ea"/>
              </a:rPr>
              <a:t>언어 장벽 없는 고용시장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지속가능 성장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— </a:t>
            </a:r>
            <a:r>
              <a:rPr lang="ko-KR" altLang="en-US" sz="1000" dirty="0">
                <a:latin typeface="+mn-ea"/>
              </a:rPr>
              <a:t>구독형 모델을 통한 안정 수익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b="1" dirty="0">
                <a:latin typeface="+mn-ea"/>
              </a:rPr>
              <a:t>ESG </a:t>
            </a:r>
            <a:r>
              <a:rPr lang="ko-KR" altLang="en-US" sz="1000" b="1" dirty="0">
                <a:latin typeface="+mn-ea"/>
              </a:rPr>
              <a:t>가치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— </a:t>
            </a:r>
            <a:r>
              <a:rPr lang="ko-KR" altLang="en-US" sz="1000" dirty="0">
                <a:latin typeface="+mn-ea"/>
              </a:rPr>
              <a:t>외국인 근로자 권익 보호 및 사회통합 기여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DB842-9A12-24AE-3D66-6B92F98F62FB}"/>
              </a:ext>
            </a:extLst>
          </p:cNvPr>
          <p:cNvSpPr txBox="1"/>
          <p:nvPr/>
        </p:nvSpPr>
        <p:spPr>
          <a:xfrm>
            <a:off x="976636" y="3903885"/>
            <a:ext cx="71667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latin typeface="+mj-ea"/>
                <a:ea typeface="+mj-ea"/>
              </a:rPr>
              <a:t>			</a:t>
            </a:r>
            <a:r>
              <a:rPr lang="ko-KR" altLang="en-US" sz="1400" b="1" dirty="0">
                <a:latin typeface="+mj-ea"/>
                <a:ea typeface="+mj-ea"/>
              </a:rPr>
              <a:t>📈 결론</a:t>
            </a:r>
            <a:endParaRPr lang="en-US" altLang="ko-KR" sz="1400" b="1" dirty="0">
              <a:latin typeface="+mj-ea"/>
              <a:ea typeface="+mj-ea"/>
            </a:endParaRPr>
          </a:p>
          <a:p>
            <a:pPr>
              <a:buNone/>
            </a:pPr>
            <a:endParaRPr lang="ko-KR" altLang="en-US" sz="1400" b="1" dirty="0">
              <a:latin typeface="+mj-ea"/>
              <a:ea typeface="+mj-ea"/>
            </a:endParaRPr>
          </a:p>
          <a:p>
            <a:pPr>
              <a:buNone/>
            </a:pPr>
            <a:r>
              <a:rPr lang="ko-KR" altLang="en-US" sz="1200" dirty="0">
                <a:latin typeface="+mj-ea"/>
                <a:ea typeface="+mj-ea"/>
              </a:rPr>
              <a:t>“</a:t>
            </a:r>
            <a:r>
              <a:rPr lang="en-US" altLang="ko-KR" sz="1200" dirty="0">
                <a:latin typeface="+mj-ea"/>
                <a:ea typeface="+mj-ea"/>
              </a:rPr>
              <a:t>Work Connect Korea”</a:t>
            </a:r>
            <a:r>
              <a:rPr lang="ko-KR" altLang="en-US" sz="1200" dirty="0">
                <a:latin typeface="+mj-ea"/>
                <a:ea typeface="+mj-ea"/>
              </a:rPr>
              <a:t>는 한국의 인력난과 외국인 구직자 간의 </a:t>
            </a:r>
            <a:r>
              <a:rPr lang="ko-KR" altLang="en-US" sz="1200" b="1" dirty="0">
                <a:latin typeface="+mj-ea"/>
                <a:ea typeface="+mj-ea"/>
              </a:rPr>
              <a:t>정보 불균형을 해소하는 자동화 구독형 허브</a:t>
            </a:r>
            <a:r>
              <a:rPr lang="ko-KR" altLang="en-US" sz="1200" dirty="0">
                <a:latin typeface="+mj-ea"/>
                <a:ea typeface="+mj-ea"/>
              </a:rPr>
              <a:t>로</a:t>
            </a:r>
            <a:r>
              <a:rPr lang="en-US" altLang="ko-KR" sz="1200" dirty="0">
                <a:latin typeface="+mj-ea"/>
                <a:ea typeface="+mj-ea"/>
              </a:rPr>
              <a:t>,</a:t>
            </a:r>
            <a:br>
              <a:rPr lang="en-US" altLang="ko-KR" sz="1200" dirty="0">
                <a:latin typeface="+mj-ea"/>
                <a:ea typeface="+mj-ea"/>
              </a:rPr>
            </a:br>
            <a:r>
              <a:rPr lang="ko-KR" altLang="en-US" sz="1200" dirty="0">
                <a:latin typeface="+mj-ea"/>
                <a:ea typeface="+mj-ea"/>
              </a:rPr>
              <a:t>실시간 채용</a:t>
            </a:r>
            <a:r>
              <a:rPr lang="en-US" altLang="ko-KR" sz="1200" dirty="0">
                <a:latin typeface="+mj-ea"/>
                <a:ea typeface="+mj-ea"/>
              </a:rPr>
              <a:t>·</a:t>
            </a:r>
            <a:r>
              <a:rPr lang="ko-KR" altLang="en-US" sz="1200" dirty="0">
                <a:latin typeface="+mj-ea"/>
                <a:ea typeface="+mj-ea"/>
              </a:rPr>
              <a:t>비자</a:t>
            </a:r>
            <a:r>
              <a:rPr lang="en-US" altLang="ko-KR" sz="1200" dirty="0">
                <a:latin typeface="+mj-ea"/>
                <a:ea typeface="+mj-ea"/>
              </a:rPr>
              <a:t>·</a:t>
            </a:r>
            <a:r>
              <a:rPr lang="ko-KR" altLang="en-US" sz="1200" dirty="0">
                <a:latin typeface="+mj-ea"/>
                <a:ea typeface="+mj-ea"/>
              </a:rPr>
              <a:t>노무정보를 다국어로 연결해 </a:t>
            </a:r>
            <a:r>
              <a:rPr lang="ko-KR" altLang="en-US" sz="1200" b="1" dirty="0">
                <a:latin typeface="+mj-ea"/>
                <a:ea typeface="+mj-ea"/>
              </a:rPr>
              <a:t>한국 취업의 게이트웨이</a:t>
            </a:r>
            <a:r>
              <a:rPr lang="ko-KR" altLang="en-US" sz="1200" dirty="0">
                <a:latin typeface="+mj-ea"/>
                <a:ea typeface="+mj-ea"/>
              </a:rPr>
              <a:t>가 되는 것을 목표로 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8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📌 문제 인식 </a:t>
            </a:r>
            <a:r>
              <a:rPr lang="en-US" altLang="ko-KR" sz="2400" dirty="0"/>
              <a:t>— </a:t>
            </a:r>
            <a:r>
              <a:rPr lang="ko-KR" altLang="en-US" sz="2400" dirty="0"/>
              <a:t>배경 </a:t>
            </a:r>
            <a:r>
              <a:rPr lang="en-US" altLang="ko-KR" sz="2400" dirty="0"/>
              <a:t>&amp; </a:t>
            </a:r>
            <a:r>
              <a:rPr lang="ko-KR" altLang="en-US" sz="2400" dirty="0"/>
              <a:t>구체적 이슈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9921" y="36576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921" y="19144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외국인 노동자 규모 증가 </a:t>
            </a:r>
            <a:r>
              <a:rPr lang="en-US" altLang="ko-KR" sz="1400" b="1" dirty="0"/>
              <a:t>+ </a:t>
            </a:r>
            <a:r>
              <a:rPr lang="ko-KR" altLang="en-US" sz="1400" b="1" dirty="0"/>
              <a:t>구조적 의존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한국의 외국인 취업자는 </a:t>
            </a:r>
            <a:r>
              <a:rPr lang="en-US" altLang="ko-KR" sz="1000" dirty="0">
                <a:latin typeface="+mn-ea"/>
              </a:rPr>
              <a:t>2024</a:t>
            </a:r>
            <a:r>
              <a:rPr lang="ko-KR" altLang="en-US" sz="1000" dirty="0">
                <a:latin typeface="+mn-ea"/>
              </a:rPr>
              <a:t>년 기준 </a:t>
            </a:r>
            <a:r>
              <a:rPr lang="en-US" altLang="ko-KR" sz="1000" b="1" dirty="0">
                <a:latin typeface="+mn-ea"/>
              </a:rPr>
              <a:t>100</a:t>
            </a:r>
            <a:r>
              <a:rPr lang="ko-KR" altLang="en-US" sz="1000" b="1" dirty="0">
                <a:latin typeface="+mn-ea"/>
              </a:rPr>
              <a:t>만 명을 돌파</a:t>
            </a:r>
            <a:r>
              <a:rPr lang="ko-KR" altLang="en-US" sz="1000" dirty="0">
                <a:latin typeface="+mn-ea"/>
              </a:rPr>
              <a:t>했음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</a:t>
            </a:r>
            <a:r>
              <a:rPr lang="ko-KR" altLang="en-US" sz="1000" i="1" dirty="0">
                <a:latin typeface="+mn-ea"/>
              </a:rPr>
              <a:t>조선일보 경제면</a:t>
            </a:r>
            <a:r>
              <a:rPr lang="en-US" altLang="ko-KR" sz="1000" i="1" dirty="0">
                <a:latin typeface="+mn-ea"/>
              </a:rPr>
              <a:t>, 2024-12-18)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5"/>
              </a:rPr>
              <a:t>https://www.chosun.com/economy/economy_general/2024/12/18/JKOX4NEQRZEUBNSQQAH3YZFK5M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>
                <a:latin typeface="+mn-ea"/>
              </a:rPr>
              <a:t>2012</a:t>
            </a:r>
            <a:r>
              <a:rPr lang="ko-KR" altLang="en-US" sz="1000" dirty="0">
                <a:latin typeface="+mn-ea"/>
              </a:rPr>
              <a:t>년 약 </a:t>
            </a:r>
            <a:r>
              <a:rPr lang="en-US" altLang="ko-KR" sz="1000" dirty="0">
                <a:latin typeface="+mn-ea"/>
              </a:rPr>
              <a:t>110</a:t>
            </a:r>
            <a:r>
              <a:rPr lang="ko-KR" altLang="en-US" sz="1000" dirty="0">
                <a:latin typeface="+mn-ea"/>
              </a:rPr>
              <a:t>만 명이던 외국인 노동자가 </a:t>
            </a:r>
            <a:r>
              <a:rPr lang="en-US" altLang="ko-KR" sz="1000" dirty="0">
                <a:latin typeface="+mn-ea"/>
              </a:rPr>
              <a:t>2016</a:t>
            </a:r>
            <a:r>
              <a:rPr lang="ko-KR" altLang="en-US" sz="1000" dirty="0" err="1">
                <a:latin typeface="+mn-ea"/>
              </a:rPr>
              <a:t>년엔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142</a:t>
            </a:r>
            <a:r>
              <a:rPr lang="ko-KR" altLang="en-US" sz="1000" dirty="0">
                <a:latin typeface="+mn-ea"/>
              </a:rPr>
              <a:t>만 명으로 증가했다는 연구 결과도 존재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BIS Papers No.100 – “Labor Mobility and Economic Growth”, 2016)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6"/>
              </a:rPr>
              <a:t>https://www.bis.org/publ/bppdf/bispap100_m.pdf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인구 고령화와 노동력 부족을 완화하기 위해 이민 및 노동 이동 확대가 필수라는 분석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Peterson Institute for International Economics, 2024-07)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7"/>
              </a:rPr>
              <a:t>https://www.piie.com/sites/default/files/2024-07/wp24-18.pdf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99CFF-5863-BF70-CD01-4F6A3C09B43D}"/>
              </a:ext>
            </a:extLst>
          </p:cNvPr>
          <p:cNvSpPr txBox="1"/>
          <p:nvPr/>
        </p:nvSpPr>
        <p:spPr>
          <a:xfrm>
            <a:off x="631921" y="3182301"/>
            <a:ext cx="7918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latin typeface="+mn-ea"/>
              </a:rPr>
              <a:t>2. </a:t>
            </a:r>
            <a:r>
              <a:rPr lang="ko-KR" altLang="en-US" sz="1400" b="1" dirty="0">
                <a:latin typeface="+mn-ea"/>
              </a:rPr>
              <a:t>산업 현장 인력난의 심화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자동차 부품 산업</a:t>
            </a:r>
            <a:r>
              <a:rPr lang="ko-KR" altLang="en-US" sz="1000" dirty="0">
                <a:latin typeface="+mn-ea"/>
              </a:rPr>
              <a:t>에서도 외국인 기능인력</a:t>
            </a:r>
            <a:r>
              <a:rPr lang="en-US" altLang="ko-KR" sz="1000" dirty="0">
                <a:latin typeface="+mn-ea"/>
              </a:rPr>
              <a:t>(E-7-3) </a:t>
            </a:r>
            <a:r>
              <a:rPr lang="ko-KR" altLang="en-US" sz="1000" dirty="0">
                <a:latin typeface="+mn-ea"/>
              </a:rPr>
              <a:t>시범사업 추진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Daum </a:t>
            </a:r>
            <a:r>
              <a:rPr lang="ko-KR" altLang="en-US" sz="1000" i="1" dirty="0">
                <a:latin typeface="+mn-ea"/>
              </a:rPr>
              <a:t>뉴스</a:t>
            </a:r>
            <a:r>
              <a:rPr lang="en-US" altLang="ko-KR" sz="1000" i="1" dirty="0">
                <a:latin typeface="+mn-ea"/>
              </a:rPr>
              <a:t>, 2025-10-12)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8"/>
              </a:rPr>
              <a:t>https://v.daum.net/v/20251012175005438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b="1" dirty="0">
                <a:latin typeface="+mn-ea"/>
              </a:rPr>
              <a:t>무역업계</a:t>
            </a:r>
            <a:r>
              <a:rPr lang="ko-KR" altLang="en-US" sz="1000" dirty="0">
                <a:latin typeface="+mn-ea"/>
              </a:rPr>
              <a:t>에서도 외국인 사무직 채용 의향이 확대되고 있음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Shipping News Net, 2025)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9"/>
              </a:rPr>
              <a:t>https://www.shippingnewsnet.com/news/articleView.html?idxno=64261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18C54-DB78-D198-7E4F-EF832979FBBE}"/>
              </a:ext>
            </a:extLst>
          </p:cNvPr>
          <p:cNvSpPr txBox="1"/>
          <p:nvPr/>
        </p:nvSpPr>
        <p:spPr>
          <a:xfrm>
            <a:off x="2286000" y="22910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F5597"/>
                </a:solidFill>
              </a:rPr>
              <a:t>• 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2C1D-B76B-11E7-582D-115958B9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E5B76C-294C-17B7-CA26-2E45AAFCD572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📌 문제 인식 </a:t>
            </a:r>
            <a:r>
              <a:rPr lang="en-US" altLang="ko-KR" sz="2400" dirty="0"/>
              <a:t>— </a:t>
            </a:r>
            <a:r>
              <a:rPr lang="ko-KR" altLang="en-US" sz="2400" dirty="0"/>
              <a:t>배경 </a:t>
            </a:r>
            <a:r>
              <a:rPr lang="en-US" altLang="ko-KR" sz="2400" dirty="0"/>
              <a:t>&amp; </a:t>
            </a:r>
            <a:r>
              <a:rPr lang="ko-KR" altLang="en-US" sz="2400" dirty="0"/>
              <a:t>구체적 이슈</a:t>
            </a:r>
            <a:endParaRPr lang="en-US" sz="2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E61594B-DE0A-6C9E-36EB-0C731D7D2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9921" y="365760"/>
            <a:ext cx="914400" cy="9144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8C41B605-19AC-3823-D588-944DDD8DA9F7}"/>
              </a:ext>
            </a:extLst>
          </p:cNvPr>
          <p:cNvSpPr/>
          <p:nvPr/>
        </p:nvSpPr>
        <p:spPr>
          <a:xfrm>
            <a:off x="631921" y="140827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dirty="0"/>
              <a:t>3. </a:t>
            </a:r>
            <a:r>
              <a:rPr lang="ko-KR" altLang="en-US" sz="1400" b="1" dirty="0"/>
              <a:t>고급 전문인력 유입 정체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외국인 인구는 </a:t>
            </a:r>
            <a:r>
              <a:rPr lang="en-US" altLang="ko-KR" sz="1000" dirty="0">
                <a:latin typeface="+mn-ea"/>
              </a:rPr>
              <a:t>20</a:t>
            </a:r>
            <a:r>
              <a:rPr lang="ko-KR" altLang="en-US" sz="1000" dirty="0">
                <a:latin typeface="+mn-ea"/>
              </a:rPr>
              <a:t>년 사이 </a:t>
            </a:r>
            <a:r>
              <a:rPr lang="en-US" altLang="ko-KR" sz="1000" dirty="0">
                <a:latin typeface="+mn-ea"/>
              </a:rPr>
              <a:t>9</a:t>
            </a:r>
            <a:r>
              <a:rPr lang="ko-KR" altLang="en-US" sz="1000" dirty="0">
                <a:latin typeface="+mn-ea"/>
              </a:rPr>
              <a:t>배 이상 증가했지만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고급 인재 유입은 정체 상태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</a:t>
            </a:r>
            <a:r>
              <a:rPr lang="ko-KR" altLang="en-US" sz="1000" i="1" dirty="0">
                <a:latin typeface="+mn-ea"/>
              </a:rPr>
              <a:t>한국경제</a:t>
            </a:r>
            <a:r>
              <a:rPr lang="en-US" altLang="ko-KR" sz="1000" i="1" dirty="0">
                <a:latin typeface="+mn-ea"/>
              </a:rPr>
              <a:t>, 2025-08-26)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5"/>
              </a:rPr>
              <a:t>https://www.hankyung.com/article/2025082633091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62C1F-3F84-D9B0-C483-D4D77B76F2AA}"/>
              </a:ext>
            </a:extLst>
          </p:cNvPr>
          <p:cNvSpPr txBox="1"/>
          <p:nvPr/>
        </p:nvSpPr>
        <p:spPr>
          <a:xfrm>
            <a:off x="631921" y="2639862"/>
            <a:ext cx="821525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4. </a:t>
            </a:r>
            <a:r>
              <a:rPr lang="ko-KR" altLang="en-US" sz="1400" b="1" dirty="0"/>
              <a:t>근로 환경의 취약성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외국인 근로자의 산업재해율은 한국인 대비 약 </a:t>
            </a:r>
            <a:r>
              <a:rPr lang="en-US" altLang="ko-KR" sz="1000" dirty="0">
                <a:latin typeface="+mn-ea"/>
              </a:rPr>
              <a:t>3</a:t>
            </a:r>
            <a:r>
              <a:rPr lang="ko-KR" altLang="en-US" sz="1000" dirty="0">
                <a:latin typeface="+mn-ea"/>
              </a:rPr>
              <a:t>배 수준으로 추정됨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Reuters – “Deadly battery plant fire highlights risks...”, 2024-06-25)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6"/>
              </a:rPr>
              <a:t>https://www.reuters.com/world/asia-pacific/deadly-battery-plant-fire-highlights-risks-south-koreas-migrant-workers-2024-06-25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>
                <a:latin typeface="+mn-ea"/>
              </a:rPr>
              <a:t>연구에 따르면 외국인 근로자는 장시간 근무</a:t>
            </a:r>
            <a:r>
              <a:rPr lang="en-US" altLang="ko-KR" sz="1000" dirty="0">
                <a:latin typeface="+mn-ea"/>
              </a:rPr>
              <a:t>·</a:t>
            </a:r>
            <a:r>
              <a:rPr lang="ko-KR" altLang="en-US" sz="1000" dirty="0">
                <a:latin typeface="+mn-ea"/>
              </a:rPr>
              <a:t>위험노출로 인한 건강 위험이 높음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Int. Journal for Equity in Health, 2024)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7"/>
              </a:rPr>
              <a:t>https://equityhealthj.biomedcentral.com/articles/10.1186/s12939-024-02126-2</a:t>
            </a:r>
            <a:endParaRPr lang="ko-KR" altLang="en-US" sz="1000" dirty="0">
              <a:latin typeface="+mn-ea"/>
            </a:endParaRP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>
                <a:latin typeface="+mn-ea"/>
              </a:rPr>
              <a:t>COVID-19 </a:t>
            </a:r>
            <a:r>
              <a:rPr lang="ko-KR" altLang="en-US" sz="1000" dirty="0">
                <a:latin typeface="+mn-ea"/>
              </a:rPr>
              <a:t>시기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외국인 노동자의 사회적 고립과 우울증이 심화된 연구 결과</a:t>
            </a:r>
            <a:r>
              <a:rPr lang="en-US" altLang="ko-KR" sz="1000" dirty="0">
                <a:latin typeface="+mn-ea"/>
              </a:rPr>
              <a:t>. 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National Library of Medicine / PMC, 2024)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8"/>
              </a:rPr>
              <a:t>https://pmc.ncbi.nlm.nih.gov/articles/PMC11099632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015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B540-6DD1-D90A-1AB1-FE7DDA9B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29C696-B922-971B-AC37-005B98B74F39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📌 문제 인식 </a:t>
            </a:r>
            <a:r>
              <a:rPr lang="en-US" altLang="ko-KR" sz="2400" dirty="0"/>
              <a:t>— </a:t>
            </a:r>
            <a:r>
              <a:rPr lang="ko-KR" altLang="en-US" sz="2400" dirty="0"/>
              <a:t>배경 </a:t>
            </a:r>
            <a:r>
              <a:rPr lang="en-US" altLang="ko-KR" sz="2400" dirty="0"/>
              <a:t>&amp; </a:t>
            </a:r>
            <a:r>
              <a:rPr lang="ko-KR" altLang="en-US" sz="2400" dirty="0"/>
              <a:t>구체적 이슈</a:t>
            </a:r>
            <a:endParaRPr lang="en-US" sz="2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5D2061C-25EB-B847-5184-C3E8A8A73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9921" y="365760"/>
            <a:ext cx="914400" cy="9144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B4AC608-B6DC-3A87-36DA-AF823BACCB65}"/>
              </a:ext>
            </a:extLst>
          </p:cNvPr>
          <p:cNvSpPr/>
          <p:nvPr/>
        </p:nvSpPr>
        <p:spPr>
          <a:xfrm>
            <a:off x="631921" y="152662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b="1" dirty="0"/>
              <a:t>5. </a:t>
            </a:r>
            <a:r>
              <a:rPr lang="ko-KR" altLang="en-US" sz="1400" b="1" dirty="0"/>
              <a:t>외국인 고용 동기의 변화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</a:t>
            </a:r>
            <a:r>
              <a:rPr lang="ko-KR" altLang="en-US" sz="1000" dirty="0">
                <a:latin typeface="+mn-ea"/>
              </a:rPr>
              <a:t>“내국인 </a:t>
            </a:r>
            <a:r>
              <a:rPr lang="ko-KR" altLang="en-US" sz="1000" dirty="0" err="1">
                <a:latin typeface="+mn-ea"/>
              </a:rPr>
              <a:t>구인난”보다</a:t>
            </a:r>
            <a:r>
              <a:rPr lang="ko-KR" altLang="en-US" sz="1000" dirty="0">
                <a:latin typeface="+mn-ea"/>
              </a:rPr>
              <a:t> “낮은 </a:t>
            </a:r>
            <a:r>
              <a:rPr lang="ko-KR" altLang="en-US" sz="1000" dirty="0" err="1">
                <a:latin typeface="+mn-ea"/>
              </a:rPr>
              <a:t>인건비”가</a:t>
            </a:r>
            <a:r>
              <a:rPr lang="ko-KR" altLang="en-US" sz="1000" dirty="0">
                <a:latin typeface="+mn-ea"/>
              </a:rPr>
              <a:t> 외국인 고용의 주된 이유로 떠오름</a:t>
            </a:r>
            <a:r>
              <a:rPr lang="en-US" altLang="ko-KR" sz="1000" dirty="0">
                <a:latin typeface="+mn-ea"/>
              </a:rPr>
              <a:t>.</a:t>
            </a:r>
            <a:r>
              <a:rPr lang="en-US" altLang="ko-KR" sz="1000" i="1" dirty="0">
                <a:latin typeface="+mn-ea"/>
              </a:rPr>
              <a:t>(</a:t>
            </a:r>
            <a:r>
              <a:rPr lang="ko-KR" altLang="en-US" sz="1000" i="1" dirty="0">
                <a:latin typeface="+mn-ea"/>
              </a:rPr>
              <a:t>출처</a:t>
            </a:r>
            <a:r>
              <a:rPr lang="en-US" altLang="ko-KR" sz="1000" i="1" dirty="0">
                <a:latin typeface="+mn-ea"/>
              </a:rPr>
              <a:t>: </a:t>
            </a:r>
            <a:r>
              <a:rPr lang="ko-KR" altLang="en-US" sz="1000" i="1" dirty="0">
                <a:latin typeface="+mn-ea"/>
              </a:rPr>
              <a:t>경향신문</a:t>
            </a:r>
            <a:r>
              <a:rPr lang="en-US" altLang="ko-KR" sz="1000" i="1" dirty="0">
                <a:latin typeface="+mn-ea"/>
              </a:rPr>
              <a:t>, 2024-12-03)</a:t>
            </a:r>
            <a:br>
              <a:rPr lang="ko-KR" altLang="en-US" sz="1000" dirty="0">
                <a:latin typeface="+mn-ea"/>
              </a:rPr>
            </a:br>
            <a:r>
              <a:rPr lang="en-US" altLang="ko-KR" sz="1000" dirty="0">
                <a:latin typeface="+mn-ea"/>
              </a:rPr>
              <a:t>	</a:t>
            </a:r>
            <a:r>
              <a:rPr lang="ko-KR" altLang="en-US" sz="1000" dirty="0">
                <a:latin typeface="+mn-ea"/>
              </a:rPr>
              <a:t>👉 </a:t>
            </a:r>
            <a:r>
              <a:rPr lang="en-US" altLang="ko-KR" sz="1000" dirty="0">
                <a:latin typeface="+mn-ea"/>
                <a:hlinkClick r:id="rId5"/>
              </a:rPr>
              <a:t>https://www.khan.co.kr/article/202412031513001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A88F6-C38D-1F0A-14B4-E33F52F1AD38}"/>
              </a:ext>
            </a:extLst>
          </p:cNvPr>
          <p:cNvSpPr txBox="1"/>
          <p:nvPr/>
        </p:nvSpPr>
        <p:spPr>
          <a:xfrm>
            <a:off x="2286000" y="22910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F5597"/>
                </a:solidFill>
              </a:rPr>
              <a:t>•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2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💡 </a:t>
            </a:r>
            <a:r>
              <a:rPr lang="en-US" altLang="ko-KR" sz="2400" dirty="0"/>
              <a:t>2. </a:t>
            </a:r>
            <a:r>
              <a:rPr lang="ko-KR" altLang="en-US" sz="2400" dirty="0"/>
              <a:t>실현 가능성 </a:t>
            </a:r>
            <a:r>
              <a:rPr lang="en-US" altLang="ko-KR" sz="2400" dirty="0"/>
              <a:t>(Solution)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“</a:t>
            </a:r>
            <a:r>
              <a:rPr lang="en-US" altLang="ko-KR" sz="1600" dirty="0"/>
              <a:t>Work Connect Korea” – </a:t>
            </a:r>
            <a:r>
              <a:rPr lang="ko-KR" altLang="en-US" sz="1600" dirty="0"/>
              <a:t>다국어 기반 외국인 취업 구독 플랫폼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0354" y="1940347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💡 핵심 기능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1794" y="2306107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dirty="0"/>
              <a:t>“</a:t>
            </a:r>
            <a:r>
              <a:rPr lang="en-US" altLang="ko-KR" sz="1000" dirty="0"/>
              <a:t>Work Connect Korea – </a:t>
            </a:r>
            <a:r>
              <a:rPr lang="ko-KR" altLang="en-US" sz="1000" dirty="0"/>
              <a:t>외국인 취업 정보의 통합 플랫폼”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636520" y="2763307"/>
            <a:ext cx="231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⚙️ 기술 구조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727960" y="3130982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dirty="0"/>
              <a:t>“자동화 번역 </a:t>
            </a:r>
            <a:r>
              <a:rPr lang="en-US" altLang="ko-KR" sz="1000" dirty="0"/>
              <a:t>· </a:t>
            </a:r>
            <a:r>
              <a:rPr lang="ko-KR" altLang="en-US" sz="1000" dirty="0"/>
              <a:t>배포 엔진 구조도”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8760" y="3683333"/>
            <a:ext cx="272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b="1" dirty="0"/>
              <a:t>🔁 </a:t>
            </a:r>
            <a:r>
              <a:rPr lang="en-US" altLang="ko-KR" sz="1600" b="1" dirty="0"/>
              <a:t>2-3. </a:t>
            </a:r>
            <a:r>
              <a:rPr lang="ko-KR" altLang="en-US" sz="1600" b="1" dirty="0"/>
              <a:t>자동화 운영 플로우</a:t>
            </a:r>
            <a:endParaRPr lang="en-US" altLang="ko-KR" sz="1600" b="1" dirty="0"/>
          </a:p>
        </p:txBody>
      </p:sp>
      <p:sp>
        <p:nvSpPr>
          <p:cNvPr id="14" name="Text 9"/>
          <p:cNvSpPr/>
          <p:nvPr/>
        </p:nvSpPr>
        <p:spPr>
          <a:xfrm>
            <a:off x="5410200" y="4049093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“End-to-End Automation Flow”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AA5C2-5A24-F239-1399-314664A6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64C6C5-5F6B-6B99-AE64-BF7C37C58796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💡 </a:t>
            </a:r>
            <a:r>
              <a:rPr lang="en-US" altLang="ko-KR" sz="2400" dirty="0"/>
              <a:t>2-1. </a:t>
            </a:r>
            <a:r>
              <a:rPr lang="ko-KR" altLang="en-US" sz="2400" dirty="0"/>
              <a:t>핵심 기능 </a:t>
            </a:r>
            <a:r>
              <a:rPr lang="en-US" altLang="ko-KR" sz="2400" dirty="0"/>
              <a:t>(Solution Overview)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98398F-FED1-3009-59EC-557F6B0053CA}"/>
              </a:ext>
            </a:extLst>
          </p:cNvPr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“</a:t>
            </a:r>
            <a:r>
              <a:rPr lang="en-US" altLang="ko-KR" sz="1600" dirty="0"/>
              <a:t>Work Connect Korea – </a:t>
            </a:r>
            <a:r>
              <a:rPr lang="ko-KR" altLang="en-US" sz="1600" dirty="0"/>
              <a:t>외국인 취업 정보의 통합 플랫폼”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E86C9-1F78-2B73-82C0-66AA597A59A0}"/>
              </a:ext>
            </a:extLst>
          </p:cNvPr>
          <p:cNvSpPr txBox="1"/>
          <p:nvPr/>
        </p:nvSpPr>
        <p:spPr>
          <a:xfrm>
            <a:off x="538586" y="1464156"/>
            <a:ext cx="843785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🔹 데이터 수집 </a:t>
            </a:r>
            <a:r>
              <a:rPr lang="en-US" altLang="ko-KR" b="1" dirty="0"/>
              <a:t>(Data Aggregation)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공공 데이터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워크넷</a:t>
            </a:r>
            <a:r>
              <a:rPr lang="en-US" altLang="ko-KR" sz="1200" dirty="0"/>
              <a:t>(</a:t>
            </a:r>
            <a:r>
              <a:rPr lang="en-US" altLang="ko-KR" sz="1200" dirty="0" err="1"/>
              <a:t>WorkNet</a:t>
            </a:r>
            <a:r>
              <a:rPr lang="en-US" altLang="ko-KR" sz="1200" dirty="0"/>
              <a:t>), </a:t>
            </a:r>
            <a:r>
              <a:rPr lang="ko-KR" altLang="en-US" sz="1200" dirty="0"/>
              <a:t>고용노동부 </a:t>
            </a:r>
            <a:r>
              <a:rPr lang="en-US" altLang="ko-KR" sz="1200" dirty="0"/>
              <a:t>E9·H2 </a:t>
            </a:r>
            <a:r>
              <a:rPr lang="ko-KR" altLang="en-US" sz="1200" dirty="0"/>
              <a:t>비자 통계</a:t>
            </a:r>
            <a:r>
              <a:rPr lang="en-US" altLang="ko-KR" sz="1200" dirty="0"/>
              <a:t>, </a:t>
            </a:r>
            <a:r>
              <a:rPr lang="ko-KR" altLang="en-US" sz="1200" dirty="0"/>
              <a:t>국가별 체류자 </a:t>
            </a:r>
            <a:r>
              <a:rPr lang="en-US" altLang="ko-KR" sz="1200" dirty="0"/>
              <a:t>DB </a:t>
            </a:r>
            <a:r>
              <a:rPr lang="ko-KR" altLang="en-US" sz="1200" dirty="0"/>
              <a:t>등 </a:t>
            </a:r>
            <a:r>
              <a:rPr lang="en-US" altLang="ko-KR" sz="1200" dirty="0"/>
              <a:t>API </a:t>
            </a:r>
            <a:r>
              <a:rPr lang="ko-KR" altLang="en-US" sz="1200" dirty="0"/>
              <a:t>연동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민간 데이터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잡코리아</a:t>
            </a:r>
            <a:r>
              <a:rPr lang="en-US" altLang="ko-KR" sz="1200" dirty="0"/>
              <a:t>, </a:t>
            </a:r>
            <a:r>
              <a:rPr lang="ko-KR" altLang="en-US" sz="1200" dirty="0"/>
              <a:t>사람인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잡플래닛</a:t>
            </a:r>
            <a:r>
              <a:rPr lang="en-US" altLang="ko-KR" sz="1200" dirty="0"/>
              <a:t>, </a:t>
            </a:r>
            <a:r>
              <a:rPr lang="ko-KR" altLang="en-US" sz="1200" dirty="0"/>
              <a:t>글로벌 취업포털</a:t>
            </a:r>
            <a:r>
              <a:rPr lang="en-US" altLang="ko-KR" sz="1200" dirty="0"/>
              <a:t>(Indeed, LinkedIn Korea) </a:t>
            </a:r>
            <a:r>
              <a:rPr lang="ko-KR" altLang="en-US" sz="1200" dirty="0" err="1"/>
              <a:t>크롤링</a:t>
            </a:r>
            <a:r>
              <a:rPr lang="ko-KR" altLang="en-US" sz="1200" dirty="0"/>
              <a:t> 모듈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필터링 엔진</a:t>
            </a:r>
            <a:r>
              <a:rPr lang="en-US" altLang="ko-KR" sz="1200" b="1" dirty="0"/>
              <a:t>:</a:t>
            </a:r>
            <a:r>
              <a:rPr lang="ko-KR" altLang="en-US" sz="1200" dirty="0"/>
              <a:t> 직종</a:t>
            </a:r>
            <a:r>
              <a:rPr lang="en-US" altLang="ko-KR" sz="1200" dirty="0"/>
              <a:t>·</a:t>
            </a:r>
            <a:r>
              <a:rPr lang="ko-KR" altLang="en-US" sz="1200" dirty="0"/>
              <a:t>지역</a:t>
            </a:r>
            <a:r>
              <a:rPr lang="en-US" altLang="ko-KR" sz="1200" dirty="0"/>
              <a:t>·</a:t>
            </a:r>
            <a:r>
              <a:rPr lang="ko-KR" altLang="en-US" sz="1200" dirty="0"/>
              <a:t>언어별 필터링 및 중복 제거 로직 내장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결과</a:t>
            </a:r>
            <a:r>
              <a:rPr lang="en-US" altLang="ko-KR" sz="1200" b="1" dirty="0"/>
              <a:t>:</a:t>
            </a:r>
            <a:r>
              <a:rPr lang="ko-KR" altLang="en-US" sz="1200" dirty="0"/>
              <a:t> 매일 </a:t>
            </a:r>
            <a:r>
              <a:rPr lang="en-US" altLang="ko-KR" sz="1200" dirty="0"/>
              <a:t>10 </a:t>
            </a:r>
            <a:r>
              <a:rPr lang="ko-KR" altLang="en-US" sz="1200" dirty="0"/>
              <a:t>만 건 이상 채용정보 중 신뢰도 </a:t>
            </a:r>
            <a:r>
              <a:rPr lang="en-US" altLang="ko-KR" sz="1200" dirty="0"/>
              <a:t>90% </a:t>
            </a:r>
            <a:r>
              <a:rPr lang="ko-KR" altLang="en-US" sz="1200" dirty="0"/>
              <a:t>이상 데이터만 </a:t>
            </a:r>
            <a:r>
              <a:rPr lang="en-US" altLang="ko-KR" sz="1200" dirty="0"/>
              <a:t>DB </a:t>
            </a:r>
            <a:r>
              <a:rPr lang="ko-KR" altLang="en-US" sz="1200" dirty="0"/>
              <a:t>등록</a:t>
            </a:r>
            <a:endParaRPr lang="en-US" altLang="ko-KR" sz="12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b="1" dirty="0"/>
              <a:t>🔹 다국어 번역 큐레이션 </a:t>
            </a:r>
            <a:r>
              <a:rPr lang="en-US" altLang="ko-KR" b="1" dirty="0"/>
              <a:t>(Multilingual Curation)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언어 지원</a:t>
            </a:r>
            <a:r>
              <a:rPr lang="en-US" altLang="ko-KR" sz="1200" b="1" dirty="0"/>
              <a:t>:</a:t>
            </a:r>
            <a:r>
              <a:rPr lang="ko-KR" altLang="en-US" sz="1200" dirty="0"/>
              <a:t> 영어</a:t>
            </a:r>
            <a:r>
              <a:rPr lang="en-US" altLang="ko-KR" sz="1200" dirty="0"/>
              <a:t>, </a:t>
            </a:r>
            <a:r>
              <a:rPr lang="ko-KR" altLang="en-US" sz="1200" dirty="0"/>
              <a:t>베트남어</a:t>
            </a:r>
            <a:r>
              <a:rPr lang="en-US" altLang="ko-KR" sz="1200" dirty="0"/>
              <a:t>, </a:t>
            </a:r>
            <a:r>
              <a:rPr lang="ko-KR" altLang="en-US" sz="1200" dirty="0"/>
              <a:t>태국어</a:t>
            </a:r>
            <a:r>
              <a:rPr lang="en-US" altLang="ko-KR" sz="1200" dirty="0"/>
              <a:t>, </a:t>
            </a:r>
            <a:r>
              <a:rPr lang="ko-KR" altLang="en-US" sz="1200" dirty="0"/>
              <a:t>인도네시아어</a:t>
            </a:r>
            <a:r>
              <a:rPr lang="en-US" altLang="ko-KR" sz="1200" dirty="0"/>
              <a:t>, </a:t>
            </a:r>
            <a:r>
              <a:rPr lang="ko-KR" altLang="en-US" sz="1200" dirty="0"/>
              <a:t>러시아어</a:t>
            </a:r>
            <a:r>
              <a:rPr lang="en-US" altLang="ko-KR" sz="1200" dirty="0"/>
              <a:t>, </a:t>
            </a:r>
            <a:r>
              <a:rPr lang="ko-KR" altLang="en-US" sz="1200" dirty="0"/>
              <a:t>한국어 </a:t>
            </a:r>
            <a:r>
              <a:rPr lang="en-US" altLang="ko-KR" sz="1200" dirty="0"/>
              <a:t>6</a:t>
            </a:r>
            <a:r>
              <a:rPr lang="ko-KR" altLang="en-US" sz="1200" dirty="0" err="1"/>
              <a:t>개국어</a:t>
            </a:r>
            <a:r>
              <a:rPr lang="ko-KR" altLang="en-US" sz="1200" dirty="0"/>
              <a:t> 동시 생성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문서 단위 번역 </a:t>
            </a:r>
            <a:r>
              <a:rPr lang="en-US" altLang="ko-KR" sz="1200" b="1" dirty="0"/>
              <a:t>API:</a:t>
            </a:r>
            <a:r>
              <a:rPr lang="ko-KR" altLang="en-US" sz="1200" dirty="0"/>
              <a:t> </a:t>
            </a:r>
            <a:r>
              <a:rPr lang="en-US" altLang="ko-KR" sz="1200" dirty="0"/>
              <a:t>Google Cloud Translation + NLLB (</a:t>
            </a:r>
            <a:r>
              <a:rPr lang="ko-KR" altLang="en-US" sz="1200" dirty="0"/>
              <a:t>번역 비교 후 품질 평가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용어 통일</a:t>
            </a:r>
            <a:r>
              <a:rPr lang="en-US" altLang="ko-KR" sz="1200" b="1" dirty="0"/>
              <a:t>:</a:t>
            </a:r>
            <a:r>
              <a:rPr lang="ko-KR" altLang="en-US" sz="1200" dirty="0"/>
              <a:t> “비자”</a:t>
            </a:r>
            <a:r>
              <a:rPr lang="en-US" altLang="ko-KR" sz="1200" dirty="0"/>
              <a:t>, “</a:t>
            </a:r>
            <a:r>
              <a:rPr lang="ko-KR" altLang="en-US" sz="1200" dirty="0"/>
              <a:t>고용형태”</a:t>
            </a:r>
            <a:r>
              <a:rPr lang="en-US" altLang="ko-KR" sz="1200" dirty="0"/>
              <a:t>, “</a:t>
            </a:r>
            <a:r>
              <a:rPr lang="ko-KR" altLang="en-US" sz="1200" dirty="0"/>
              <a:t>근무기간” 등 전문용어 통합 사전 기반 자동 보정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큐레이션 </a:t>
            </a:r>
            <a:r>
              <a:rPr lang="en-US" altLang="ko-KR" sz="1200" b="1" dirty="0"/>
              <a:t>AI:</a:t>
            </a:r>
            <a:r>
              <a:rPr lang="ko-KR" altLang="en-US" sz="1200" dirty="0"/>
              <a:t> 직종</a:t>
            </a:r>
            <a:r>
              <a:rPr lang="en-US" altLang="ko-KR" sz="1200" dirty="0"/>
              <a:t>·</a:t>
            </a:r>
            <a:r>
              <a:rPr lang="ko-KR" altLang="en-US" sz="1200" dirty="0"/>
              <a:t>급여</a:t>
            </a:r>
            <a:r>
              <a:rPr lang="en-US" altLang="ko-KR" sz="1200" dirty="0"/>
              <a:t>·</a:t>
            </a:r>
            <a:r>
              <a:rPr lang="ko-KR" altLang="en-US" sz="1200" dirty="0"/>
              <a:t>비자 조건 별 적합도 점수화 후 랭킹 배포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b="1" dirty="0"/>
              <a:t>🔹 배포 및 참여 </a:t>
            </a:r>
            <a:r>
              <a:rPr lang="en-US" altLang="ko-KR" b="1" dirty="0"/>
              <a:t>(Distribution &amp; Engagement)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자동 뉴스레터</a:t>
            </a:r>
            <a:r>
              <a:rPr lang="en-US" altLang="ko-KR" sz="1200" b="1" dirty="0"/>
              <a:t>:</a:t>
            </a:r>
            <a:r>
              <a:rPr lang="ko-KR" altLang="en-US" sz="1200" dirty="0"/>
              <a:t> 매일 또는 주 단위 지역별 큐레이션 메일 발송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메신저 통합</a:t>
            </a:r>
            <a:r>
              <a:rPr lang="en-US" altLang="ko-KR" sz="1200" b="1" dirty="0"/>
              <a:t>:</a:t>
            </a:r>
            <a:r>
              <a:rPr lang="ko-KR" altLang="en-US" sz="1200" dirty="0"/>
              <a:t> 카카오톡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텔레그램</a:t>
            </a:r>
            <a:r>
              <a:rPr lang="en-US" altLang="ko-KR" sz="1200" dirty="0"/>
              <a:t>, WhatsApp </a:t>
            </a:r>
            <a:r>
              <a:rPr lang="ko-KR" altLang="en-US" sz="1200" dirty="0"/>
              <a:t>봇 기반 맞춤 </a:t>
            </a:r>
            <a:r>
              <a:rPr lang="ko-KR" altLang="en-US" sz="1200" dirty="0" err="1"/>
              <a:t>피드</a:t>
            </a:r>
            <a:r>
              <a:rPr lang="ko-KR" altLang="en-US" sz="1200" dirty="0"/>
              <a:t> 전송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전문가 네트워크</a:t>
            </a:r>
            <a:r>
              <a:rPr lang="en-US" altLang="ko-KR" sz="1200" b="1" dirty="0"/>
              <a:t>:</a:t>
            </a:r>
            <a:r>
              <a:rPr lang="ko-KR" altLang="en-US" sz="1200" dirty="0"/>
              <a:t> 노무사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이민법률가</a:t>
            </a:r>
            <a:r>
              <a:rPr lang="ko-KR" altLang="en-US" sz="1200" dirty="0"/>
              <a:t> </a:t>
            </a:r>
            <a:r>
              <a:rPr lang="en-US" altLang="ko-KR" sz="1200" dirty="0"/>
              <a:t>Q&amp;A </a:t>
            </a:r>
            <a:r>
              <a:rPr lang="ko-KR" altLang="en-US" sz="1200" dirty="0"/>
              <a:t>모듈 </a:t>
            </a:r>
            <a:r>
              <a:rPr lang="en-US" altLang="ko-KR" sz="1200" dirty="0"/>
              <a:t>+ Zoom </a:t>
            </a:r>
            <a:r>
              <a:rPr lang="ko-KR" altLang="en-US" sz="1200" dirty="0"/>
              <a:t>상담 예약 연동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피드백 루프</a:t>
            </a:r>
            <a:r>
              <a:rPr lang="en-US" altLang="ko-KR" sz="1200" b="1" dirty="0"/>
              <a:t>:</a:t>
            </a:r>
            <a:r>
              <a:rPr lang="ko-KR" altLang="en-US" sz="1200" dirty="0"/>
              <a:t> 구독자의 클릭</a:t>
            </a:r>
            <a:r>
              <a:rPr lang="en-US" altLang="ko-KR" sz="1200" dirty="0"/>
              <a:t>·</a:t>
            </a:r>
            <a:r>
              <a:rPr lang="ko-KR" altLang="en-US" sz="1200" dirty="0"/>
              <a:t>상담 데이터 → 추천 모델 자동 개선</a:t>
            </a:r>
          </a:p>
          <a:p>
            <a:endParaRPr lang="ko-KR" alt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44316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A0EA-B2DF-CBCA-57FE-CCB69F0D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8EB224-809C-1BFC-5862-6BA30CF31481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⚙️ </a:t>
            </a:r>
            <a:r>
              <a:rPr lang="en-US" altLang="ko-KR" sz="2400" dirty="0"/>
              <a:t>2-2. </a:t>
            </a:r>
            <a:r>
              <a:rPr lang="ko-KR" altLang="en-US" sz="2400" dirty="0"/>
              <a:t>기술 구조 </a:t>
            </a:r>
            <a:r>
              <a:rPr lang="en-US" altLang="ko-KR" sz="2400" dirty="0"/>
              <a:t>(Technical Architecture)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33A3B7-B4D1-AAEA-EFE1-CEBC025535F7}"/>
              </a:ext>
            </a:extLst>
          </p:cNvPr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dirty="0"/>
              <a:t>“자동화 번역 </a:t>
            </a:r>
            <a:r>
              <a:rPr lang="en-US" altLang="ko-KR" sz="1600" dirty="0"/>
              <a:t>· </a:t>
            </a:r>
            <a:r>
              <a:rPr lang="ko-KR" altLang="en-US" sz="1600" dirty="0"/>
              <a:t>배포 엔진 구조도”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C6A31-6C67-DCBC-B1F7-5D4FA381BD33}"/>
              </a:ext>
            </a:extLst>
          </p:cNvPr>
          <p:cNvSpPr txBox="1"/>
          <p:nvPr/>
        </p:nvSpPr>
        <p:spPr>
          <a:xfrm>
            <a:off x="538586" y="1464156"/>
            <a:ext cx="843785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🔹 번역 결과 </a:t>
            </a:r>
            <a:r>
              <a:rPr lang="ko-KR" altLang="en-US" b="1" dirty="0" err="1"/>
              <a:t>캐싱</a:t>
            </a:r>
            <a:r>
              <a:rPr lang="ko-KR" altLang="en-US" b="1" dirty="0"/>
              <a:t> </a:t>
            </a:r>
            <a:r>
              <a:rPr lang="en-US" altLang="ko-KR" b="1" dirty="0"/>
              <a:t>(Translation Caching)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동일 문장 </a:t>
            </a:r>
            <a:r>
              <a:rPr lang="en-US" altLang="ko-KR" sz="1200" b="1" dirty="0"/>
              <a:t>Hash </a:t>
            </a:r>
            <a:r>
              <a:rPr lang="ko-KR" altLang="en-US" sz="1200" b="1" dirty="0"/>
              <a:t>저장</a:t>
            </a:r>
            <a:r>
              <a:rPr lang="en-US" altLang="ko-KR" sz="1200" b="1" dirty="0"/>
              <a:t>:</a:t>
            </a:r>
            <a:r>
              <a:rPr lang="ko-KR" altLang="en-US" sz="1200" dirty="0"/>
              <a:t> 번역 결과를 문장별 </a:t>
            </a:r>
            <a:r>
              <a:rPr lang="en-US" altLang="ko-KR" sz="1200" dirty="0"/>
              <a:t>Hash</a:t>
            </a:r>
            <a:r>
              <a:rPr lang="ko-KR" altLang="en-US" sz="1200" dirty="0"/>
              <a:t>로 보관해 중복 요청 차단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en-US" altLang="ko-KR" sz="1200" b="1" dirty="0"/>
              <a:t>Redis + PostgreSQL </a:t>
            </a:r>
            <a:r>
              <a:rPr lang="ko-KR" altLang="en-US" sz="1200" b="1" dirty="0"/>
              <a:t>이중 저장</a:t>
            </a:r>
            <a:r>
              <a:rPr lang="en-US" altLang="ko-KR" sz="1200" b="1" dirty="0"/>
              <a:t>:</a:t>
            </a:r>
            <a:r>
              <a:rPr lang="ko-KR" altLang="en-US" sz="1200" dirty="0"/>
              <a:t> 실시간 응답용 </a:t>
            </a:r>
            <a:r>
              <a:rPr lang="en-US" altLang="ko-KR" sz="1200" dirty="0"/>
              <a:t>+ </a:t>
            </a:r>
            <a:r>
              <a:rPr lang="ko-KR" altLang="en-US" sz="1200" dirty="0"/>
              <a:t>영구 </a:t>
            </a:r>
            <a:r>
              <a:rPr lang="en-US" altLang="ko-KR" sz="1200" dirty="0"/>
              <a:t>DB </a:t>
            </a:r>
            <a:r>
              <a:rPr lang="ko-KR" altLang="en-US" sz="1200" dirty="0"/>
              <a:t>백업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처리 효율</a:t>
            </a:r>
            <a:r>
              <a:rPr lang="en-US" altLang="ko-KR" sz="1200" b="1" dirty="0"/>
              <a:t>:</a:t>
            </a:r>
            <a:r>
              <a:rPr lang="ko-KR" altLang="en-US" sz="1200" dirty="0"/>
              <a:t> 번역 </a:t>
            </a:r>
            <a:r>
              <a:rPr lang="en-US" altLang="ko-KR" sz="1200" dirty="0"/>
              <a:t>API </a:t>
            </a:r>
            <a:r>
              <a:rPr lang="ko-KR" altLang="en-US" sz="1200" dirty="0"/>
              <a:t>호출 비용 최대 </a:t>
            </a:r>
            <a:r>
              <a:rPr lang="en-US" altLang="ko-KR" sz="1200" dirty="0"/>
              <a:t>70% </a:t>
            </a:r>
            <a:r>
              <a:rPr lang="ko-KR" altLang="en-US" sz="1200" dirty="0"/>
              <a:t>절감</a:t>
            </a:r>
          </a:p>
          <a:p>
            <a:endParaRPr lang="ko-KR" altLang="en-US" dirty="0"/>
          </a:p>
          <a:p>
            <a:r>
              <a:rPr lang="ko-KR" altLang="en-US" b="1" dirty="0"/>
              <a:t>🔹 배치 스케줄러 </a:t>
            </a:r>
            <a:r>
              <a:rPr lang="en-US" altLang="ko-KR" b="1" dirty="0"/>
              <a:t>(Batch Scheduler)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en-US" altLang="ko-KR" sz="1200" b="1" dirty="0"/>
              <a:t>Airflow or Celery </a:t>
            </a:r>
            <a:r>
              <a:rPr lang="ko-KR" altLang="en-US" sz="1200" b="1" dirty="0"/>
              <a:t>기반</a:t>
            </a:r>
            <a:r>
              <a:rPr lang="en-US" altLang="ko-KR" sz="1200" b="1" dirty="0"/>
              <a:t>:</a:t>
            </a:r>
            <a:r>
              <a:rPr lang="ko-KR" altLang="en-US" sz="1200" dirty="0"/>
              <a:t> 매일 정해진 시간대에 데이터 수집</a:t>
            </a:r>
            <a:r>
              <a:rPr lang="en-US" altLang="ko-KR" sz="1200" dirty="0"/>
              <a:t>·</a:t>
            </a:r>
            <a:r>
              <a:rPr lang="ko-KR" altLang="en-US" sz="1200" dirty="0"/>
              <a:t>번역</a:t>
            </a:r>
            <a:r>
              <a:rPr lang="en-US" altLang="ko-KR" sz="1200" dirty="0"/>
              <a:t>·</a:t>
            </a:r>
            <a:r>
              <a:rPr lang="ko-KR" altLang="en-US" sz="1200" dirty="0"/>
              <a:t>배포 자동 실행</a:t>
            </a:r>
            <a:r>
              <a:rPr lang="en-US" altLang="ko-KR" sz="1200" dirty="0">
                <a:solidFill>
                  <a:srgbClr val="2F5597"/>
                </a:solidFill>
              </a:rPr>
              <a:t> 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오류 모니터링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Slack Webhook </a:t>
            </a:r>
            <a:r>
              <a:rPr lang="ko-KR" altLang="en-US" sz="1200" dirty="0"/>
              <a:t>알림 </a:t>
            </a:r>
            <a:r>
              <a:rPr lang="en-US" altLang="ko-KR" sz="1200" dirty="0"/>
              <a:t>+ </a:t>
            </a:r>
            <a:r>
              <a:rPr lang="ko-KR" altLang="en-US" sz="1200" dirty="0"/>
              <a:t>실패 </a:t>
            </a:r>
            <a:r>
              <a:rPr lang="en-US" altLang="ko-KR" sz="1200" dirty="0"/>
              <a:t>Task </a:t>
            </a:r>
            <a:r>
              <a:rPr lang="ko-KR" altLang="en-US" sz="1200" dirty="0"/>
              <a:t>자동 재시도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실시간 </a:t>
            </a:r>
            <a:r>
              <a:rPr lang="en-US" altLang="ko-KR" sz="1200" b="1" dirty="0"/>
              <a:t>API </a:t>
            </a:r>
            <a:r>
              <a:rPr lang="ko-KR" altLang="en-US" sz="1200" b="1" dirty="0"/>
              <a:t>동기화</a:t>
            </a:r>
            <a:r>
              <a:rPr lang="en-US" altLang="ko-KR" sz="1200" b="1" dirty="0"/>
              <a:t>:</a:t>
            </a:r>
            <a:r>
              <a:rPr lang="ko-KR" altLang="en-US" sz="1200" dirty="0"/>
              <a:t> 긴급 채용 공고 또는 비자 정책 변경 즉시 반영</a:t>
            </a:r>
          </a:p>
          <a:p>
            <a:endParaRPr lang="ko-KR" altLang="en-US" dirty="0"/>
          </a:p>
          <a:p>
            <a:r>
              <a:rPr lang="ko-KR" altLang="en-US" b="1" dirty="0"/>
              <a:t>🔹 </a:t>
            </a:r>
            <a:r>
              <a:rPr lang="en-US" altLang="ko-KR" b="1" dirty="0"/>
              <a:t>e-</a:t>
            </a:r>
            <a:r>
              <a:rPr lang="ko-KR" altLang="en-US" b="1" dirty="0"/>
              <a:t>지갑 및 </a:t>
            </a:r>
            <a:r>
              <a:rPr lang="en-US" altLang="ko-KR" b="1" dirty="0"/>
              <a:t>B2B API (E-Wallet &amp; Partner API)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결제 플로우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PayPal, Toss, </a:t>
            </a:r>
            <a:r>
              <a:rPr lang="en-US" altLang="ko-KR" sz="1200" dirty="0" err="1"/>
              <a:t>VNPay</a:t>
            </a:r>
            <a:r>
              <a:rPr lang="en-US" altLang="ko-KR" sz="1200" dirty="0"/>
              <a:t> </a:t>
            </a:r>
            <a:r>
              <a:rPr lang="ko-KR" altLang="en-US" sz="1200" dirty="0"/>
              <a:t>등 국가별 게이트웨이 연동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en-US" altLang="ko-KR" sz="1200" b="1" dirty="0"/>
              <a:t>B2B API:</a:t>
            </a:r>
            <a:r>
              <a:rPr lang="ko-KR" altLang="en-US" sz="1200" dirty="0"/>
              <a:t> 학교</a:t>
            </a:r>
            <a:r>
              <a:rPr lang="en-US" altLang="ko-KR" sz="1200" dirty="0"/>
              <a:t>·</a:t>
            </a:r>
            <a:r>
              <a:rPr lang="ko-KR" altLang="en-US" sz="1200" dirty="0"/>
              <a:t>기관용 데이터 </a:t>
            </a:r>
            <a:r>
              <a:rPr lang="en-US" altLang="ko-KR" sz="1200" dirty="0"/>
              <a:t>Feed </a:t>
            </a:r>
            <a:r>
              <a:rPr lang="ko-KR" altLang="en-US" sz="1200" dirty="0"/>
              <a:t>제공 </a:t>
            </a:r>
            <a:r>
              <a:rPr lang="en-US" altLang="ko-KR" sz="1200" dirty="0"/>
              <a:t>(JSON </a:t>
            </a:r>
            <a:r>
              <a:rPr lang="ko-KR" altLang="en-US" sz="1200" dirty="0"/>
              <a:t>형태 매일 갱신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보안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OAuth2 + JWT </a:t>
            </a:r>
            <a:r>
              <a:rPr lang="ko-KR" altLang="en-US" sz="1200" dirty="0"/>
              <a:t>기반 토큰 인증</a:t>
            </a:r>
            <a:r>
              <a:rPr lang="en-US" altLang="ko-KR" sz="1200" dirty="0"/>
              <a:t>, TLS 1.3 </a:t>
            </a:r>
            <a:r>
              <a:rPr lang="ko-KR" altLang="en-US" sz="1200" dirty="0"/>
              <a:t>통신</a:t>
            </a:r>
          </a:p>
          <a:p>
            <a:r>
              <a:rPr lang="en-US" altLang="ko-KR" sz="1200" dirty="0">
                <a:solidFill>
                  <a:srgbClr val="2F5597"/>
                </a:solidFill>
              </a:rPr>
              <a:t>• </a:t>
            </a:r>
            <a:r>
              <a:rPr lang="ko-KR" altLang="en-US" sz="1200" b="1" dirty="0"/>
              <a:t>추가 모듈</a:t>
            </a:r>
            <a:r>
              <a:rPr lang="en-US" altLang="ko-KR" sz="1200" b="1" dirty="0"/>
              <a:t>:</a:t>
            </a:r>
            <a:r>
              <a:rPr lang="ko-KR" altLang="en-US" sz="1200" dirty="0"/>
              <a:t> 채용기업용 </a:t>
            </a:r>
            <a:r>
              <a:rPr lang="en-US" altLang="ko-KR" sz="1200" dirty="0"/>
              <a:t>Dashboard (</a:t>
            </a:r>
            <a:r>
              <a:rPr lang="ko-KR" altLang="en-US" sz="1200" dirty="0"/>
              <a:t>등록</a:t>
            </a:r>
            <a:r>
              <a:rPr lang="en-US" altLang="ko-KR" sz="1200" dirty="0"/>
              <a:t>·</a:t>
            </a:r>
            <a:r>
              <a:rPr lang="ko-KR" altLang="en-US" sz="1200" dirty="0"/>
              <a:t>통계</a:t>
            </a:r>
            <a:r>
              <a:rPr lang="en-US" altLang="ko-KR" sz="1200" dirty="0"/>
              <a:t>·</a:t>
            </a:r>
            <a:r>
              <a:rPr lang="ko-KR" altLang="en-US" sz="1200" dirty="0"/>
              <a:t>결제 내역 확인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718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0834-DE7D-52AA-EEA2-A0E4AAD5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1AEA9C-F0B9-F12A-4697-8AAFB0A10469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🔁 </a:t>
            </a:r>
            <a:r>
              <a:rPr lang="en-US" altLang="ko-KR" sz="2400" dirty="0"/>
              <a:t>2-3. </a:t>
            </a:r>
            <a:r>
              <a:rPr lang="ko-KR" altLang="en-US" sz="2400" dirty="0"/>
              <a:t>자동화 운영 플로우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C7C933-3B08-2A63-FD27-9714C8B49214}"/>
              </a:ext>
            </a:extLst>
          </p:cNvPr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/>
              <a:t>“End-to-End Automation Flow”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FD25D-4DA8-7E7F-F302-2BD987F49C82}"/>
              </a:ext>
            </a:extLst>
          </p:cNvPr>
          <p:cNvSpPr txBox="1"/>
          <p:nvPr/>
        </p:nvSpPr>
        <p:spPr>
          <a:xfrm>
            <a:off x="495499" y="1656062"/>
            <a:ext cx="56611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1️⃣ </a:t>
            </a:r>
            <a:r>
              <a:rPr lang="ko-KR" altLang="en-US" b="1" dirty="0"/>
              <a:t>수집</a:t>
            </a:r>
            <a:r>
              <a:rPr lang="en-US" altLang="ko-KR" b="1" dirty="0"/>
              <a:t>:</a:t>
            </a:r>
            <a:r>
              <a:rPr lang="ko-KR" altLang="en-US" dirty="0"/>
              <a:t> 공공</a:t>
            </a:r>
            <a:r>
              <a:rPr lang="en-US" altLang="ko-KR" dirty="0"/>
              <a:t>/</a:t>
            </a:r>
            <a:r>
              <a:rPr lang="ko-KR" altLang="en-US" dirty="0"/>
              <a:t>민간 데이터 → 필터링 → </a:t>
            </a:r>
            <a:r>
              <a:rPr lang="en-US" altLang="ko-KR" dirty="0"/>
              <a:t>DB </a:t>
            </a:r>
            <a:r>
              <a:rPr lang="ko-KR" altLang="en-US" dirty="0"/>
              <a:t>저장</a:t>
            </a:r>
            <a:br>
              <a:rPr lang="ko-KR" altLang="en-US" dirty="0"/>
            </a:br>
            <a:r>
              <a:rPr lang="en-US" altLang="ko-KR" dirty="0"/>
              <a:t>2️⃣ </a:t>
            </a:r>
            <a:r>
              <a:rPr lang="ko-KR" altLang="en-US" b="1" dirty="0"/>
              <a:t>처리</a:t>
            </a:r>
            <a:r>
              <a:rPr lang="en-US" altLang="ko-KR" b="1" dirty="0"/>
              <a:t>:</a:t>
            </a:r>
            <a:r>
              <a:rPr lang="ko-KR" altLang="en-US" dirty="0"/>
              <a:t> 번역 엔진 </a:t>
            </a:r>
            <a:r>
              <a:rPr lang="en-US" altLang="ko-KR" dirty="0"/>
              <a:t>+ </a:t>
            </a:r>
            <a:r>
              <a:rPr lang="ko-KR" altLang="en-US" dirty="0"/>
              <a:t>큐레이션 </a:t>
            </a:r>
            <a:r>
              <a:rPr lang="en-US" altLang="ko-KR" dirty="0"/>
              <a:t>AI → </a:t>
            </a:r>
            <a:r>
              <a:rPr lang="ko-KR" altLang="en-US" dirty="0"/>
              <a:t>적합도 산출</a:t>
            </a:r>
            <a:br>
              <a:rPr lang="ko-KR" altLang="en-US" dirty="0"/>
            </a:br>
            <a:r>
              <a:rPr lang="en-US" altLang="ko-KR" dirty="0"/>
              <a:t>3️⃣ </a:t>
            </a:r>
            <a:r>
              <a:rPr lang="ko-KR" altLang="en-US" b="1" dirty="0"/>
              <a:t>배포</a:t>
            </a:r>
            <a:r>
              <a:rPr lang="en-US" altLang="ko-KR" b="1" dirty="0"/>
              <a:t>:</a:t>
            </a:r>
            <a:r>
              <a:rPr lang="ko-KR" altLang="en-US" dirty="0"/>
              <a:t> 메일</a:t>
            </a:r>
            <a:r>
              <a:rPr lang="en-US" altLang="ko-KR" dirty="0"/>
              <a:t>·</a:t>
            </a:r>
            <a:r>
              <a:rPr lang="ko-KR" altLang="en-US" dirty="0"/>
              <a:t>메신저</a:t>
            </a:r>
            <a:r>
              <a:rPr lang="en-US" altLang="ko-KR" dirty="0"/>
              <a:t>·API </a:t>
            </a:r>
            <a:r>
              <a:rPr lang="ko-KR" altLang="en-US" dirty="0"/>
              <a:t>자동 발송</a:t>
            </a:r>
            <a:br>
              <a:rPr lang="ko-KR" altLang="en-US" dirty="0"/>
            </a:br>
            <a:r>
              <a:rPr lang="en-US" altLang="ko-KR" dirty="0"/>
              <a:t>4️⃣ </a:t>
            </a:r>
            <a:r>
              <a:rPr lang="ko-KR" altLang="en-US" b="1" dirty="0"/>
              <a:t>피드백</a:t>
            </a:r>
            <a:r>
              <a:rPr lang="en-US" altLang="ko-KR" b="1" dirty="0"/>
              <a:t>:</a:t>
            </a:r>
            <a:r>
              <a:rPr lang="ko-KR" altLang="en-US" dirty="0"/>
              <a:t> 구독자 반응 → 추천 모델 </a:t>
            </a:r>
            <a:r>
              <a:rPr lang="ko-KR" altLang="en-US" dirty="0" err="1"/>
              <a:t>재학습</a:t>
            </a:r>
            <a:br>
              <a:rPr lang="ko-KR" altLang="en-US" dirty="0"/>
            </a:br>
            <a:r>
              <a:rPr lang="en-US" altLang="ko-KR" dirty="0"/>
              <a:t>5️⃣ </a:t>
            </a:r>
            <a:r>
              <a:rPr lang="ko-KR" altLang="en-US" b="1" dirty="0"/>
              <a:t>모니터링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Admin Console</a:t>
            </a:r>
            <a:r>
              <a:rPr lang="ko-KR" altLang="en-US" dirty="0"/>
              <a:t>에서 실시간 성능 확인</a:t>
            </a:r>
          </a:p>
        </p:txBody>
      </p:sp>
    </p:spTree>
    <p:extLst>
      <p:ext uri="{BB962C8B-B14F-4D97-AF65-F5344CB8AC3E}">
        <p14:creationId xmlns:p14="http://schemas.microsoft.com/office/powerpoint/2010/main" val="16156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🚀 </a:t>
            </a:r>
            <a:r>
              <a:rPr lang="en-US" altLang="ko-KR" sz="2400" dirty="0"/>
              <a:t>3. </a:t>
            </a:r>
            <a:r>
              <a:rPr lang="ko-KR" altLang="en-US" sz="2400" dirty="0"/>
              <a:t>성장 전략 </a:t>
            </a:r>
            <a:r>
              <a:rPr lang="en-US" altLang="ko-KR" sz="2400" dirty="0"/>
              <a:t>(Scale-Up)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2F5597"/>
                </a:solidFill>
                <a:hlinkClick r:id="rId3"/>
              </a:rPr>
              <a:t>[1]</a:t>
            </a:r>
            <a:endParaRPr lang="en-US" sz="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BB1DF-E7E0-D565-19D3-6911E1675578}"/>
              </a:ext>
            </a:extLst>
          </p:cNvPr>
          <p:cNvSpPr txBox="1"/>
          <p:nvPr/>
        </p:nvSpPr>
        <p:spPr>
          <a:xfrm>
            <a:off x="572097" y="911993"/>
            <a:ext cx="488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 — </a:t>
            </a:r>
            <a:r>
              <a:rPr lang="ko-KR" altLang="en-US" dirty="0"/>
              <a:t>시장 진입 단계별 로드맵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78368-C231-0913-FFB1-7DF1A066E53E}"/>
              </a:ext>
            </a:extLst>
          </p:cNvPr>
          <p:cNvSpPr txBox="1"/>
          <p:nvPr/>
        </p:nvSpPr>
        <p:spPr>
          <a:xfrm>
            <a:off x="837801" y="1585054"/>
            <a:ext cx="8636532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🟩 2025 Q1–Q2  →  🟦 2025 Q3–Q4                            →  🟪 2026~</a:t>
            </a:r>
          </a:p>
          <a:p>
            <a:r>
              <a:rPr lang="ko-KR" altLang="en-US" sz="1000" dirty="0"/>
              <a:t>       [MVP 로컬개발]       [동남아 B2B/기관 제휴]                    [글로벌 </a:t>
            </a:r>
            <a:r>
              <a:rPr lang="ko-KR" altLang="en-US" sz="1000" dirty="0" err="1"/>
              <a:t>확장·플랫폼화</a:t>
            </a:r>
            <a:r>
              <a:rPr lang="ko-KR" altLang="en-US" sz="1000" dirty="0"/>
              <a:t>]</a:t>
            </a:r>
          </a:p>
          <a:p>
            <a:endParaRPr lang="en-US" altLang="ko-KR" sz="1000" dirty="0"/>
          </a:p>
          <a:p>
            <a:endParaRPr lang="ko-KR" altLang="en-US" sz="1000" dirty="0"/>
          </a:p>
          <a:p>
            <a:r>
              <a:rPr lang="ko-KR" altLang="en-US" sz="1000" dirty="0"/>
              <a:t>⚙️ MVP:</a:t>
            </a:r>
          </a:p>
          <a:p>
            <a:r>
              <a:rPr lang="ko-KR" altLang="en-US" sz="1000" dirty="0"/>
              <a:t> - </a:t>
            </a:r>
            <a:r>
              <a:rPr lang="ko-KR" altLang="en-US" sz="1000" dirty="0" err="1"/>
              <a:t>크롤러·번역·뉴스레터</a:t>
            </a:r>
            <a:r>
              <a:rPr lang="ko-KR" altLang="en-US" sz="1000" dirty="0"/>
              <a:t> 모듈</a:t>
            </a:r>
          </a:p>
          <a:p>
            <a:r>
              <a:rPr lang="ko-KR" altLang="en-US" sz="1000" dirty="0"/>
              <a:t> - 한국어/영어 초기 서비스 론칭</a:t>
            </a:r>
          </a:p>
          <a:p>
            <a:endParaRPr lang="ko-KR" altLang="en-US" sz="1000" dirty="0"/>
          </a:p>
          <a:p>
            <a:r>
              <a:rPr lang="ko-KR" altLang="en-US" sz="1000" dirty="0"/>
              <a:t>🌏 확장:</a:t>
            </a:r>
          </a:p>
          <a:p>
            <a:r>
              <a:rPr lang="ko-KR" altLang="en-US" sz="1000" dirty="0"/>
              <a:t> - 다국어 번역 통합(동남아 4개국어)</a:t>
            </a:r>
          </a:p>
          <a:p>
            <a:r>
              <a:rPr lang="ko-KR" altLang="en-US" sz="1000" dirty="0"/>
              <a:t> - </a:t>
            </a:r>
            <a:r>
              <a:rPr lang="ko-KR" altLang="en-US" sz="1000" dirty="0" err="1"/>
              <a:t>Grab·Shopee</a:t>
            </a:r>
            <a:r>
              <a:rPr lang="ko-KR" altLang="en-US" sz="1000" dirty="0"/>
              <a:t> 등과 데이터 제휴</a:t>
            </a:r>
          </a:p>
          <a:p>
            <a:r>
              <a:rPr lang="ko-KR" altLang="en-US" sz="1000" dirty="0"/>
              <a:t> - 광고 모델 구축 및 정식 유료화</a:t>
            </a:r>
          </a:p>
          <a:p>
            <a:endParaRPr lang="ko-KR" altLang="en-US" sz="1000" dirty="0"/>
          </a:p>
          <a:p>
            <a:r>
              <a:rPr lang="ko-KR" altLang="en-US" sz="1000" dirty="0"/>
              <a:t>🛰️ 플랫폼화:</a:t>
            </a:r>
          </a:p>
          <a:p>
            <a:r>
              <a:rPr lang="ko-KR" altLang="en-US" sz="1000" dirty="0"/>
              <a:t> - 글로벌 기관용 B2B API</a:t>
            </a:r>
          </a:p>
          <a:p>
            <a:r>
              <a:rPr lang="ko-KR" altLang="en-US" sz="1000" dirty="0"/>
              <a:t> - 현지 결제 시스템 연동(</a:t>
            </a:r>
            <a:r>
              <a:rPr lang="ko-KR" altLang="en-US" sz="1000" dirty="0" err="1"/>
              <a:t>e</a:t>
            </a:r>
            <a:r>
              <a:rPr lang="ko-KR" altLang="en-US" sz="1000" dirty="0"/>
              <a:t>-지갑)</a:t>
            </a:r>
          </a:p>
          <a:p>
            <a:r>
              <a:rPr lang="ko-KR" altLang="en-US" sz="1000" dirty="0"/>
              <a:t> - 구독형 자동결제 + 리워드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F433-A595-FE74-3827-D162EC8A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C82F67-8F40-15D7-CBFB-531DD8E2EF22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🚀 </a:t>
            </a:r>
            <a:r>
              <a:rPr lang="en-US" altLang="ko-KR" sz="2400" dirty="0"/>
              <a:t>3. </a:t>
            </a:r>
            <a:r>
              <a:rPr lang="ko-KR" altLang="en-US" sz="2400" dirty="0"/>
              <a:t>성장 전략 </a:t>
            </a:r>
            <a:r>
              <a:rPr lang="en-US" altLang="ko-KR" sz="2400" dirty="0"/>
              <a:t>(Scale-Up)</a:t>
            </a: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0577221-1278-8A40-81F2-0429599C3B5C}"/>
              </a:ext>
            </a:extLst>
          </p:cNvPr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2F5597"/>
                </a:solidFill>
                <a:hlinkClick r:id="rId3"/>
              </a:rPr>
              <a:t>[1]</a:t>
            </a:r>
            <a:endParaRPr lang="en-US" sz="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25D0D-6FC9-DE0A-8243-E444893CF2DD}"/>
              </a:ext>
            </a:extLst>
          </p:cNvPr>
          <p:cNvSpPr txBox="1"/>
          <p:nvPr/>
        </p:nvSpPr>
        <p:spPr>
          <a:xfrm>
            <a:off x="572097" y="911993"/>
            <a:ext cx="488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 — </a:t>
            </a:r>
            <a:r>
              <a:rPr lang="ko-KR" altLang="en-US" dirty="0"/>
              <a:t>마케팅 전략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A5749BC-ACF6-7380-5EC5-C7B8DB7B2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23868"/>
              </p:ext>
            </p:extLst>
          </p:nvPr>
        </p:nvGraphicFramePr>
        <p:xfrm>
          <a:off x="636329" y="1396700"/>
          <a:ext cx="813903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176">
                  <a:extLst>
                    <a:ext uri="{9D8B030D-6E8A-4147-A177-3AD203B41FA5}">
                      <a16:colId xmlns:a16="http://schemas.microsoft.com/office/drawing/2014/main" val="4119622673"/>
                    </a:ext>
                  </a:extLst>
                </a:gridCol>
                <a:gridCol w="4700863">
                  <a:extLst>
                    <a:ext uri="{9D8B030D-6E8A-4147-A177-3AD203B41FA5}">
                      <a16:colId xmlns:a16="http://schemas.microsoft.com/office/drawing/2014/main" val="1119772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키워드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 전략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72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📢</a:t>
                      </a:r>
                      <a:r>
                        <a:rPr lang="en-US" altLang="ko-KR" dirty="0" err="1"/>
                        <a:t>GrabAds</a:t>
                      </a:r>
                      <a:r>
                        <a:rPr lang="en-US" altLang="ko-KR" dirty="0"/>
                        <a:t> / SNS </a:t>
                      </a:r>
                      <a:r>
                        <a:rPr lang="ko-KR" altLang="en-US" dirty="0"/>
                        <a:t>캠페인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현지 사용자 맞춤형 광고 및 인식 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27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🤝학교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노무사 제휴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취업상담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비자 안내 등 신뢰 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7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📰무료 뉴스레터 → 유료 </a:t>
                      </a:r>
                      <a:r>
                        <a:rPr lang="ko-KR" altLang="en-US" dirty="0" err="1"/>
                        <a:t>업셀링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초기 구독자 확보 후 유료 전환 유도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0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📈로컬 커뮤니티 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현지 인력사무소</a:t>
                      </a:r>
                      <a:r>
                        <a:rPr lang="en-US" altLang="ko-KR" dirty="0"/>
                        <a:t>, NGO</a:t>
                      </a:r>
                      <a:r>
                        <a:rPr lang="ko-KR" altLang="en-US" dirty="0"/>
                        <a:t>와의 협업을 통한 지속 유입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86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10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FF189-AFF0-EA8B-2480-7D8C21FE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E3EBE7-904F-32EB-9058-553E8E7B9598}"/>
              </a:ext>
            </a:extLst>
          </p:cNvPr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🚀 </a:t>
            </a:r>
            <a:r>
              <a:rPr lang="en-US" altLang="ko-KR" sz="2400" dirty="0"/>
              <a:t>3. </a:t>
            </a:r>
            <a:r>
              <a:rPr lang="ko-KR" altLang="en-US" sz="2400" dirty="0"/>
              <a:t>성장 전략 </a:t>
            </a:r>
            <a:r>
              <a:rPr lang="en-US" altLang="ko-KR" sz="2400" dirty="0"/>
              <a:t>(Scale-Up)</a:t>
            </a: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D7D8E34-C464-4DE2-544D-CCFD1FDBD2DA}"/>
              </a:ext>
            </a:extLst>
          </p:cNvPr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2F5597"/>
                </a:solidFill>
                <a:hlinkClick r:id="rId3"/>
              </a:rPr>
              <a:t>[1]</a:t>
            </a:r>
            <a:endParaRPr lang="en-US" sz="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698C6-04B9-BFAB-9C35-6A135097CA99}"/>
              </a:ext>
            </a:extLst>
          </p:cNvPr>
          <p:cNvSpPr txBox="1"/>
          <p:nvPr/>
        </p:nvSpPr>
        <p:spPr>
          <a:xfrm>
            <a:off x="572097" y="911993"/>
            <a:ext cx="488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 — </a:t>
            </a:r>
            <a:r>
              <a:rPr lang="ko-KR" altLang="en-US" dirty="0"/>
              <a:t>수익 모델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A0B0BD3-E4AC-D4E0-103E-A44F15160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29382"/>
              </p:ext>
            </p:extLst>
          </p:nvPr>
        </p:nvGraphicFramePr>
        <p:xfrm>
          <a:off x="636329" y="1396700"/>
          <a:ext cx="81390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437">
                  <a:extLst>
                    <a:ext uri="{9D8B030D-6E8A-4147-A177-3AD203B41FA5}">
                      <a16:colId xmlns:a16="http://schemas.microsoft.com/office/drawing/2014/main" val="4119622673"/>
                    </a:ext>
                  </a:extLst>
                </a:gridCol>
                <a:gridCol w="1353721">
                  <a:extLst>
                    <a:ext uri="{9D8B030D-6E8A-4147-A177-3AD203B41FA5}">
                      <a16:colId xmlns:a16="http://schemas.microsoft.com/office/drawing/2014/main" val="1119772953"/>
                    </a:ext>
                  </a:extLst>
                </a:gridCol>
                <a:gridCol w="4698882">
                  <a:extLst>
                    <a:ext uri="{9D8B030D-6E8A-4147-A177-3AD203B41FA5}">
                      <a16:colId xmlns:a16="http://schemas.microsoft.com/office/drawing/2014/main" val="3195977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플랜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월 구독료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제공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72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🟩 </a:t>
                      </a:r>
                      <a:r>
                        <a:rPr lang="en-US" b="1" dirty="0"/>
                        <a:t>Entry Plan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₩1K–2K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기본 채용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비자 정보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다국어 뉴스레터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27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🟦 </a:t>
                      </a:r>
                      <a:r>
                        <a:rPr lang="en-US" b="1" dirty="0"/>
                        <a:t>Standard Plan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₩5K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산업별 큐레이션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비자 가이드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맞춤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57225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🟪 </a:t>
                      </a:r>
                      <a:r>
                        <a:rPr lang="en-US" altLang="ko-KR" b="1" dirty="0"/>
                        <a:t>Premium Plan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₩20K–50K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전문가 상담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세미나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기업 매칭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리포트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80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784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👥 </a:t>
            </a:r>
            <a:r>
              <a:rPr lang="en-US" altLang="ko-KR" sz="2400" dirty="0"/>
              <a:t>4. </a:t>
            </a:r>
            <a:r>
              <a:rPr lang="ko-KR" altLang="en-US" sz="2400" dirty="0"/>
              <a:t>기업 구성 </a:t>
            </a:r>
            <a:r>
              <a:rPr lang="en-US" altLang="ko-KR" sz="2400" dirty="0"/>
              <a:t>(Team)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대표 / CEO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79035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dirty="0"/>
              <a:t>역량</a:t>
            </a:r>
            <a:r>
              <a:rPr lang="en-US" altLang="ko-KR" sz="1000" dirty="0"/>
              <a:t>: </a:t>
            </a:r>
            <a:r>
              <a:rPr lang="ko-KR" altLang="en-US" sz="1000" dirty="0"/>
              <a:t>글로벌 취업</a:t>
            </a:r>
            <a:r>
              <a:rPr lang="en-US" altLang="ko-KR" sz="1000" dirty="0"/>
              <a:t>·AI </a:t>
            </a:r>
            <a:r>
              <a:rPr lang="ko-KR" altLang="en-US" sz="1000" dirty="0"/>
              <a:t>번역 프로젝트 경험</a:t>
            </a:r>
            <a:endParaRPr lang="en-US" altLang="ko-KR" sz="1000" dirty="0"/>
          </a:p>
          <a:p>
            <a:endParaRPr lang="en-US" sz="1000" dirty="0"/>
          </a:p>
          <a:p>
            <a:r>
              <a:rPr lang="ko-KR" altLang="en-US" sz="1000" dirty="0"/>
              <a:t>주요</a:t>
            </a:r>
            <a:r>
              <a:rPr lang="en-US" sz="1000" dirty="0"/>
              <a:t> </a:t>
            </a:r>
            <a:r>
              <a:rPr lang="ko-KR" altLang="en-US" sz="1000" dirty="0"/>
              <a:t>책임 </a:t>
            </a:r>
            <a:r>
              <a:rPr lang="en-US" altLang="ko-KR" sz="1000" dirty="0"/>
              <a:t>: </a:t>
            </a:r>
            <a:r>
              <a:rPr lang="ko-KR" altLang="en-US" sz="1000" dirty="0"/>
              <a:t>비즈니스 전략 수립</a:t>
            </a:r>
            <a:r>
              <a:rPr lang="en-US" altLang="ko-KR" sz="1000" dirty="0"/>
              <a:t>, </a:t>
            </a:r>
            <a:r>
              <a:rPr lang="ko-KR" altLang="en-US" sz="1000" dirty="0"/>
              <a:t>파트너십</a:t>
            </a:r>
            <a:r>
              <a:rPr lang="en-US" altLang="ko-KR" sz="1000" dirty="0"/>
              <a:t>·</a:t>
            </a:r>
            <a:r>
              <a:rPr lang="ko-KR" altLang="en-US" sz="1000" dirty="0"/>
              <a:t>마케팅 총괄</a:t>
            </a:r>
            <a:endParaRPr lang="en-US" altLang="ko-KR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360" y="1097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1856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CTO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261360" y="1734552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dirty="0"/>
              <a:t>역량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Python·Django</a:t>
            </a:r>
            <a:r>
              <a:rPr lang="en-US" altLang="ko-KR" sz="1000" dirty="0"/>
              <a:t> </a:t>
            </a:r>
            <a:r>
              <a:rPr lang="ko-KR" altLang="en-US" sz="1000" dirty="0"/>
              <a:t>기반 데이터 파이프라인 설계</a:t>
            </a:r>
            <a:endParaRPr lang="en-US" altLang="ko-KR" sz="1000" dirty="0"/>
          </a:p>
          <a:p>
            <a:endParaRPr lang="en-US" sz="1000" dirty="0"/>
          </a:p>
          <a:p>
            <a:r>
              <a:rPr lang="ko-KR" altLang="en-US" sz="1000" dirty="0"/>
              <a:t>주요 책임</a:t>
            </a:r>
            <a:r>
              <a:rPr lang="en-US" altLang="ko-KR" sz="1000" dirty="0"/>
              <a:t>: </a:t>
            </a:r>
            <a:r>
              <a:rPr lang="ko-KR" altLang="en-US" sz="1000" dirty="0"/>
              <a:t>자동화 </a:t>
            </a:r>
            <a:r>
              <a:rPr lang="ko-KR" altLang="en-US" sz="1000" dirty="0" err="1"/>
              <a:t>크롤러</a:t>
            </a:r>
            <a:r>
              <a:rPr lang="en-US" altLang="ko-KR" sz="1000" dirty="0"/>
              <a:t>·</a:t>
            </a:r>
            <a:r>
              <a:rPr lang="ko-KR" altLang="en-US" sz="1000" dirty="0"/>
              <a:t>번역엔진 구축</a:t>
            </a:r>
            <a:r>
              <a:rPr lang="en-US" altLang="ko-KR" sz="1000" dirty="0"/>
              <a:t>, </a:t>
            </a:r>
            <a:r>
              <a:rPr lang="ko-KR" altLang="en-US" sz="1000" dirty="0"/>
              <a:t>기술 운영 관리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5520" y="1097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2720" y="109728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</a:rPr>
              <a:t>신규 채용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065520" y="1962350"/>
            <a:ext cx="262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dirty="0"/>
              <a:t>콘텐츠 </a:t>
            </a:r>
            <a:r>
              <a:rPr lang="en-US" altLang="ko-KR" sz="1000" dirty="0"/>
              <a:t>PM</a:t>
            </a:r>
            <a:r>
              <a:rPr lang="en-US" altLang="ko-KR" sz="1000" dirty="0">
                <a:solidFill>
                  <a:srgbClr val="051D3B"/>
                </a:solidFill>
              </a:rPr>
              <a:t>:: </a:t>
            </a:r>
          </a:p>
          <a:p>
            <a:r>
              <a:rPr lang="ko-KR" altLang="en-US" sz="1000" dirty="0">
                <a:solidFill>
                  <a:srgbClr val="051D3B"/>
                </a:solidFill>
              </a:rPr>
              <a:t>역량</a:t>
            </a:r>
            <a:r>
              <a:rPr lang="en-US" altLang="ko-KR" sz="1000" dirty="0">
                <a:solidFill>
                  <a:srgbClr val="051D3B"/>
                </a:solidFill>
              </a:rPr>
              <a:t>: </a:t>
            </a:r>
            <a:r>
              <a:rPr lang="ko-KR" altLang="en-US" sz="1000" dirty="0"/>
              <a:t>다국어 콘텐츠 기획</a:t>
            </a:r>
            <a:r>
              <a:rPr lang="en-US" altLang="ko-KR" sz="1000" dirty="0"/>
              <a:t>, SNS </a:t>
            </a:r>
            <a:r>
              <a:rPr lang="ko-KR" altLang="en-US" sz="1000" dirty="0"/>
              <a:t>운영 </a:t>
            </a:r>
            <a:endParaRPr lang="en-US" altLang="ko-KR" sz="1000" dirty="0"/>
          </a:p>
          <a:p>
            <a:r>
              <a:rPr lang="ko-KR" altLang="en-US" sz="1000" dirty="0"/>
              <a:t>주요 책임</a:t>
            </a:r>
            <a:r>
              <a:rPr lang="en-US" altLang="ko-KR" sz="1000" dirty="0"/>
              <a:t>: </a:t>
            </a:r>
            <a:r>
              <a:rPr lang="ko-KR" altLang="en-US" sz="1000" dirty="0"/>
              <a:t>지역별 뉴스레터</a:t>
            </a:r>
            <a:r>
              <a:rPr lang="en-US" altLang="ko-KR" sz="1000" dirty="0"/>
              <a:t>, </a:t>
            </a:r>
            <a:r>
              <a:rPr lang="ko-KR" altLang="en-US" sz="1000" dirty="0"/>
              <a:t>미디어 운영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제휴 담당</a:t>
            </a:r>
            <a:r>
              <a:rPr lang="en-US" altLang="ko-KR" sz="1000" dirty="0"/>
              <a:t>::</a:t>
            </a:r>
          </a:p>
          <a:p>
            <a:r>
              <a:rPr lang="ko-KR" altLang="en-US" sz="1000" dirty="0"/>
              <a:t>역량</a:t>
            </a:r>
            <a:r>
              <a:rPr lang="en-US" altLang="ko-KR" sz="1000" dirty="0"/>
              <a:t>: </a:t>
            </a:r>
            <a:r>
              <a:rPr lang="ko-KR" altLang="en-US" sz="1000" dirty="0"/>
              <a:t>학교</a:t>
            </a:r>
            <a:r>
              <a:rPr lang="en-US" altLang="ko-KR" sz="1000" dirty="0"/>
              <a:t>·</a:t>
            </a:r>
            <a:r>
              <a:rPr lang="ko-KR" altLang="en-US" sz="1000" dirty="0"/>
              <a:t>노무사 네트워크 관리 </a:t>
            </a:r>
            <a:endParaRPr lang="en-US" altLang="ko-KR" sz="1000" dirty="0"/>
          </a:p>
          <a:p>
            <a:r>
              <a:rPr lang="ko-KR" altLang="en-US" sz="1000" dirty="0"/>
              <a:t>주요 책임</a:t>
            </a:r>
            <a:r>
              <a:rPr lang="en-US" altLang="ko-KR" sz="1000" dirty="0"/>
              <a:t>: B2B·</a:t>
            </a:r>
            <a:r>
              <a:rPr lang="ko-KR" altLang="en-US" sz="1000" dirty="0"/>
              <a:t>기관 협력</a:t>
            </a:r>
            <a:r>
              <a:rPr lang="en-US" altLang="ko-KR" sz="1000" dirty="0"/>
              <a:t>, </a:t>
            </a:r>
            <a:r>
              <a:rPr lang="ko-KR" altLang="en-US" sz="1000" dirty="0"/>
              <a:t>현지 확장</a:t>
            </a:r>
            <a:endParaRPr lang="en-US" sz="1000" dirty="0"/>
          </a:p>
          <a:p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831588"/>
              </p:ext>
            </p:extLst>
          </p:nvPr>
        </p:nvGraphicFramePr>
        <p:xfrm>
          <a:off x="457200" y="2646145"/>
          <a:ext cx="8229600" cy="1066800"/>
        </p:xfrm>
        <a:graphic>
          <a:graphicData uri="http://schemas.openxmlformats.org/drawingml/2006/table">
            <a:tbl>
              <a:tblPr/>
              <a:tblGrid>
                <a:gridCol w="76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파트너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주요 역할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교육기관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한국어 교육원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현지 기술학교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현지 인력 양성 및 구직자 연계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노무법인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등록 노무사 네트워크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비자</a:t>
                      </a:r>
                      <a:r>
                        <a:rPr lang="en-US" altLang="ko-KR" sz="800"/>
                        <a:t>·</a:t>
                      </a:r>
                      <a:r>
                        <a:rPr lang="ko-KR" altLang="en-US" sz="800"/>
                        <a:t>노동법 자문 및 컨설팅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공공기관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고용노동부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워크넷 등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공공 채용 데이터 </a:t>
                      </a:r>
                      <a:r>
                        <a:rPr lang="en-US" altLang="ko-KR" sz="800"/>
                        <a:t>API </a:t>
                      </a:r>
                      <a:r>
                        <a:rPr lang="ko-KR" altLang="en-US" sz="800"/>
                        <a:t>제공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민간업체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/>
                        <a:t>마케팅</a:t>
                      </a:r>
                      <a:r>
                        <a:rPr lang="en-US" altLang="ko-KR" sz="800"/>
                        <a:t>·</a:t>
                      </a:r>
                      <a:r>
                        <a:rPr lang="ko-KR" altLang="en-US" sz="800"/>
                        <a:t>콘텐츠 전문사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dirty="0"/>
                        <a:t>현지 홍보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언어별 캠페인 운영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457200" y="406767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b="1" dirty="0"/>
              <a:t>🧱 운영 및 기술 보호 방침</a:t>
            </a:r>
            <a:endParaRPr lang="en-US" altLang="ko-KR" sz="1000" b="1" dirty="0"/>
          </a:p>
          <a:p>
            <a:endParaRPr lang="ko-KR" altLang="en-US" sz="1000" b="1" dirty="0"/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/>
              <a:t>내부 기술 교육 및 문서화로 경쟁력 확보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/>
              <a:t>외주 계약 시 비밀유지협약</a:t>
            </a:r>
            <a:r>
              <a:rPr lang="en-US" altLang="ko-KR" sz="1000" dirty="0"/>
              <a:t>(NDA) </a:t>
            </a:r>
            <a:r>
              <a:rPr lang="ko-KR" altLang="en-US" sz="1000" dirty="0"/>
              <a:t>체결</a:t>
            </a:r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en-US" altLang="ko-KR" sz="1000" dirty="0"/>
              <a:t>AI </a:t>
            </a:r>
            <a:r>
              <a:rPr lang="ko-KR" altLang="en-US" sz="1000" dirty="0"/>
              <a:t>번역엔진</a:t>
            </a:r>
            <a:r>
              <a:rPr lang="en-US" altLang="ko-KR" sz="1000" dirty="0"/>
              <a:t>·</a:t>
            </a:r>
            <a:r>
              <a:rPr lang="ko-KR" altLang="en-US" sz="1000" dirty="0"/>
              <a:t>데이터 파이프라인 관련 </a:t>
            </a:r>
            <a:r>
              <a:rPr lang="ko-KR" altLang="en-US" sz="1000" b="1" dirty="0"/>
              <a:t>지식재산권 등록 추진</a:t>
            </a:r>
            <a:endParaRPr lang="ko-KR" altLang="en-US" sz="1000" dirty="0"/>
          </a:p>
          <a:p>
            <a:r>
              <a:rPr lang="en-US" altLang="ko-KR" sz="1000" dirty="0">
                <a:solidFill>
                  <a:srgbClr val="2F5597"/>
                </a:solidFill>
              </a:rPr>
              <a:t>• </a:t>
            </a:r>
            <a:r>
              <a:rPr lang="ko-KR" altLang="en-US" sz="1000" dirty="0"/>
              <a:t>정부 </a:t>
            </a:r>
            <a:r>
              <a:rPr lang="en-US" altLang="ko-KR" sz="1000" dirty="0"/>
              <a:t>R&amp;D </a:t>
            </a:r>
            <a:r>
              <a:rPr lang="ko-KR" altLang="en-US" sz="1000" dirty="0"/>
              <a:t>및 창업지원 제도 적극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dirty="0"/>
              <a:t>🌍 </a:t>
            </a:r>
            <a:r>
              <a:rPr lang="en-US" altLang="ko-KR" sz="2400" dirty="0"/>
              <a:t>5. </a:t>
            </a:r>
            <a:r>
              <a:rPr lang="ko-KR" altLang="en-US" sz="2400" dirty="0"/>
              <a:t>사회적 가치 및 확장성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b="1" dirty="0"/>
              <a:t>✅ 합법적 취업 중개로 불법 알선 구조 해소</a:t>
            </a:r>
          </a:p>
          <a:p>
            <a:r>
              <a:rPr lang="ko-KR" altLang="en-US" sz="1000" dirty="0"/>
              <a:t>불법 브로커나 비공식 커뮤니티에 의존하던 외국인 구직자에게 </a:t>
            </a:r>
            <a:r>
              <a:rPr lang="ko-KR" altLang="en-US" sz="1000" b="1" dirty="0"/>
              <a:t>공공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민간 인증 기반의 합법 취업 경로</a:t>
            </a:r>
            <a:r>
              <a:rPr lang="ko-KR" altLang="en-US" sz="1000" dirty="0"/>
              <a:t>를 제공함으로써</a:t>
            </a:r>
            <a:r>
              <a:rPr lang="en-US" altLang="ko-KR" sz="1000" dirty="0"/>
              <a:t>, </a:t>
            </a:r>
            <a:r>
              <a:rPr lang="ko-KR" altLang="en-US" sz="1000" dirty="0"/>
              <a:t>인권침해와 사기 피해를 줄이고 투명한 노동시장 질서를 확립합니다</a:t>
            </a:r>
            <a:r>
              <a:rPr lang="en-US" altLang="ko-KR" sz="1000" dirty="0"/>
              <a:t>.</a:t>
            </a:r>
          </a:p>
          <a:p>
            <a:br>
              <a:rPr lang="en-US" altLang="ko-KR" sz="1000" dirty="0"/>
            </a:br>
            <a:endParaRPr lang="en-US" altLang="ko-KR" sz="1000" dirty="0"/>
          </a:p>
          <a:p>
            <a:r>
              <a:rPr lang="ko-KR" altLang="en-US" sz="1000" b="1" dirty="0"/>
              <a:t>✅ 정보 평등 실현 </a:t>
            </a:r>
            <a:r>
              <a:rPr lang="en-US" altLang="ko-KR" sz="1000" b="1" dirty="0"/>
              <a:t>— </a:t>
            </a:r>
            <a:r>
              <a:rPr lang="ko-KR" altLang="en-US" sz="1000" b="1" dirty="0"/>
              <a:t>언어 장벽 없는 고용시장</a:t>
            </a:r>
          </a:p>
          <a:p>
            <a:r>
              <a:rPr lang="ko-KR" altLang="en-US" sz="1000" dirty="0"/>
              <a:t>한국어 중심의 채용정보를 영어</a:t>
            </a:r>
            <a:r>
              <a:rPr lang="en-US" altLang="ko-KR" sz="1000" dirty="0"/>
              <a:t>·</a:t>
            </a:r>
            <a:r>
              <a:rPr lang="ko-KR" altLang="en-US" sz="1000" dirty="0"/>
              <a:t>베트남어</a:t>
            </a:r>
            <a:r>
              <a:rPr lang="en-US" altLang="ko-KR" sz="1000" dirty="0"/>
              <a:t>·</a:t>
            </a:r>
            <a:r>
              <a:rPr lang="ko-KR" altLang="en-US" sz="1000" dirty="0"/>
              <a:t>태국어 등 </a:t>
            </a:r>
            <a:r>
              <a:rPr lang="en-US" altLang="ko-KR" sz="1000" b="1" dirty="0"/>
              <a:t>6</a:t>
            </a:r>
            <a:r>
              <a:rPr lang="ko-KR" altLang="en-US" sz="1000" b="1" dirty="0"/>
              <a:t>개 국어로 실시간 번역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배포</a:t>
            </a:r>
            <a:r>
              <a:rPr lang="ko-KR" altLang="en-US" sz="1000" dirty="0"/>
              <a:t>함으로써</a:t>
            </a:r>
            <a:r>
              <a:rPr lang="en-US" altLang="ko-KR" sz="1000" dirty="0"/>
              <a:t>, </a:t>
            </a:r>
            <a:r>
              <a:rPr lang="ko-KR" altLang="en-US" sz="1000" dirty="0"/>
              <a:t>국적과 언어에 관계없이 동일한 고용기회를 보장합니다</a:t>
            </a:r>
            <a:r>
              <a:rPr lang="en-US" altLang="ko-KR" sz="1000" dirty="0"/>
              <a:t>.</a:t>
            </a:r>
          </a:p>
          <a:p>
            <a:br>
              <a:rPr lang="en-US" altLang="ko-KR" sz="1000" dirty="0"/>
            </a:br>
            <a:endParaRPr lang="en-US" altLang="ko-KR" sz="1000" dirty="0"/>
          </a:p>
          <a:p>
            <a:r>
              <a:rPr lang="ko-KR" altLang="en-US" sz="1000" b="1" dirty="0"/>
              <a:t>✅ 지속가능 성장 </a:t>
            </a:r>
            <a:r>
              <a:rPr lang="en-US" altLang="ko-KR" sz="1000" b="1" dirty="0"/>
              <a:t>— </a:t>
            </a:r>
            <a:r>
              <a:rPr lang="ko-KR" altLang="en-US" sz="1000" b="1" dirty="0"/>
              <a:t>구독형 모델을 통한 안정 수익</a:t>
            </a:r>
          </a:p>
          <a:p>
            <a:r>
              <a:rPr lang="ko-KR" altLang="en-US" sz="1000" dirty="0"/>
              <a:t>광고 의존형 플랫폼과 달리</a:t>
            </a:r>
            <a:r>
              <a:rPr lang="en-US" altLang="ko-KR" sz="1000" dirty="0"/>
              <a:t>, </a:t>
            </a:r>
            <a:r>
              <a:rPr lang="ko-KR" altLang="en-US" sz="1000" b="1" dirty="0"/>
              <a:t>구독 기반의 정기 수익 구조</a:t>
            </a:r>
            <a:r>
              <a:rPr lang="ko-KR" altLang="en-US" sz="1000" dirty="0"/>
              <a:t>로 서비스 품질을 유지하고</a:t>
            </a:r>
            <a:r>
              <a:rPr lang="en-US" altLang="ko-KR" sz="1000" dirty="0"/>
              <a:t>, </a:t>
            </a:r>
            <a:r>
              <a:rPr lang="ko-KR" altLang="en-US" sz="1000" dirty="0"/>
              <a:t>중장기적으로 데이터</a:t>
            </a:r>
            <a:r>
              <a:rPr lang="en-US" altLang="ko-KR" sz="1000" dirty="0"/>
              <a:t>·</a:t>
            </a:r>
            <a:r>
              <a:rPr lang="ko-KR" altLang="en-US" sz="1000" dirty="0"/>
              <a:t>컨설팅</a:t>
            </a:r>
            <a:r>
              <a:rPr lang="en-US" altLang="ko-KR" sz="1000" dirty="0"/>
              <a:t>·B2B </a:t>
            </a:r>
            <a:r>
              <a:rPr lang="ko-KR" altLang="en-US" sz="1000" dirty="0"/>
              <a:t>확장까지 가능한 지속성 있는 사업 생태계를 만듭니다</a:t>
            </a:r>
            <a:r>
              <a:rPr lang="en-US" altLang="ko-KR" sz="1000" dirty="0"/>
              <a:t>.</a:t>
            </a:r>
          </a:p>
          <a:p>
            <a:br>
              <a:rPr lang="en-US" altLang="ko-KR" sz="1000" dirty="0"/>
            </a:br>
            <a:endParaRPr lang="en-US" altLang="ko-KR" sz="1000" dirty="0"/>
          </a:p>
          <a:p>
            <a:r>
              <a:rPr lang="ko-KR" altLang="en-US" sz="1000" b="1" dirty="0"/>
              <a:t>✅ </a:t>
            </a:r>
            <a:r>
              <a:rPr lang="en-US" altLang="ko-KR" sz="1000" b="1" dirty="0"/>
              <a:t>ESG </a:t>
            </a:r>
            <a:r>
              <a:rPr lang="ko-KR" altLang="en-US" sz="1000" b="1" dirty="0"/>
              <a:t>가치 </a:t>
            </a:r>
            <a:r>
              <a:rPr lang="en-US" altLang="ko-KR" sz="1000" b="1" dirty="0"/>
              <a:t>— </a:t>
            </a:r>
            <a:r>
              <a:rPr lang="ko-KR" altLang="en-US" sz="1000" b="1" dirty="0"/>
              <a:t>외국인 근로자 권익 보호 및 사회통합 기여</a:t>
            </a:r>
          </a:p>
          <a:p>
            <a:r>
              <a:rPr lang="ko-KR" altLang="en-US" sz="1000" dirty="0"/>
              <a:t>고용 정보뿐 아니라 </a:t>
            </a:r>
            <a:r>
              <a:rPr lang="ko-KR" altLang="en-US" sz="1000" b="1" dirty="0"/>
              <a:t>비자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노무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생활 안내를 통합 제공</a:t>
            </a:r>
            <a:r>
              <a:rPr lang="ko-KR" altLang="en-US" sz="1000" dirty="0"/>
              <a:t>하여 외국인 근로자의 정착을 돕고</a:t>
            </a:r>
            <a:r>
              <a:rPr lang="en-US" altLang="ko-KR" sz="1000" dirty="0"/>
              <a:t>, </a:t>
            </a:r>
            <a:r>
              <a:rPr lang="ko-KR" altLang="en-US" sz="1000" dirty="0"/>
              <a:t>지역사회와의 연결을 통해 다문화 공존의 </a:t>
            </a:r>
            <a:r>
              <a:rPr lang="en-US" altLang="ko-KR" sz="1000" dirty="0"/>
              <a:t>ESG </a:t>
            </a:r>
            <a:r>
              <a:rPr lang="ko-KR" altLang="en-US" sz="1000" dirty="0"/>
              <a:t>가치를 실현합니다</a:t>
            </a:r>
            <a:r>
              <a:rPr lang="en-US" altLang="ko-KR" sz="1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EB2DB2-AABF-4FAE-9A90-C1EDB2B19130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2059</Words>
  <Application>Microsoft Office PowerPoint</Application>
  <PresentationFormat>화면 슬라이드 쇼(16:9)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인결 이</cp:lastModifiedBy>
  <cp:revision>4</cp:revision>
  <dcterms:created xsi:type="dcterms:W3CDTF">2025-10-02T10:37:12Z</dcterms:created>
  <dcterms:modified xsi:type="dcterms:W3CDTF">2025-10-13T03:02:56Z</dcterms:modified>
</cp:coreProperties>
</file>